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500" r:id="rId3"/>
    <p:sldId id="510" r:id="rId4"/>
    <p:sldId id="487" r:id="rId5"/>
    <p:sldId id="488" r:id="rId6"/>
    <p:sldId id="490" r:id="rId7"/>
    <p:sldId id="491" r:id="rId8"/>
    <p:sldId id="489" r:id="rId9"/>
    <p:sldId id="493" r:id="rId10"/>
    <p:sldId id="492" r:id="rId11"/>
    <p:sldId id="478" r:id="rId12"/>
    <p:sldId id="472" r:id="rId13"/>
    <p:sldId id="503" r:id="rId14"/>
    <p:sldId id="477" r:id="rId15"/>
    <p:sldId id="495" r:id="rId16"/>
    <p:sldId id="496" r:id="rId17"/>
    <p:sldId id="498" r:id="rId18"/>
    <p:sldId id="499" r:id="rId19"/>
    <p:sldId id="497" r:id="rId20"/>
    <p:sldId id="473" r:id="rId21"/>
    <p:sldId id="474" r:id="rId22"/>
    <p:sldId id="480" r:id="rId23"/>
    <p:sldId id="481" r:id="rId24"/>
    <p:sldId id="479" r:id="rId25"/>
    <p:sldId id="515" r:id="rId26"/>
    <p:sldId id="516" r:id="rId27"/>
    <p:sldId id="517" r:id="rId28"/>
    <p:sldId id="482" r:id="rId29"/>
    <p:sldId id="486" r:id="rId30"/>
    <p:sldId id="501" r:id="rId31"/>
    <p:sldId id="51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2DB0"/>
    <a:srgbClr val="F6D6F1"/>
    <a:srgbClr val="EA700D"/>
    <a:srgbClr val="F9EF96"/>
    <a:srgbClr val="0070C0"/>
    <a:srgbClr val="00B050"/>
    <a:srgbClr val="962D2D"/>
    <a:srgbClr val="D99946"/>
    <a:srgbClr val="7E9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1709E5-BF33-4C61-887A-4FAD41D7B9C9}" v="1" dt="2026-07-22T04:55:21.68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46" autoAdjust="0"/>
    <p:restoredTop sz="95000" autoAdjust="0"/>
  </p:normalViewPr>
  <p:slideViewPr>
    <p:cSldViewPr snapToGrid="0">
      <p:cViewPr varScale="1">
        <p:scale>
          <a:sx n="59" d="100"/>
          <a:sy n="59" d="100"/>
        </p:scale>
        <p:origin x="1028" y="5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nu Idris" userId="a674908a5e2e2f2a" providerId="LiveId" clId="{406A531A-CF7A-4425-A148-9DDE587F8289}"/>
    <pc:docChg chg="modSld">
      <pc:chgData name="Aminu Idris" userId="a674908a5e2e2f2a" providerId="LiveId" clId="{406A531A-CF7A-4425-A148-9DDE587F8289}" dt="2026-07-22T04:55:21.680" v="0"/>
      <pc:docMkLst>
        <pc:docMk/>
      </pc:docMkLst>
      <pc:sldChg chg="modSp">
        <pc:chgData name="Aminu Idris" userId="a674908a5e2e2f2a" providerId="LiveId" clId="{406A531A-CF7A-4425-A148-9DDE587F8289}" dt="2026-07-22T04:55:21.680" v="0"/>
        <pc:sldMkLst>
          <pc:docMk/>
          <pc:sldMk cId="162022530" sldId="256"/>
        </pc:sldMkLst>
        <pc:spChg chg="mod">
          <ac:chgData name="Aminu Idris" userId="a674908a5e2e2f2a" providerId="LiveId" clId="{406A531A-CF7A-4425-A148-9DDE587F8289}" dt="2026-07-22T04:55:21.680" v="0"/>
          <ac:spMkLst>
            <pc:docMk/>
            <pc:sldMk cId="162022530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99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wget</a:t>
            </a:r>
            <a:r>
              <a:rPr lang="en-US" dirty="0"/>
              <a:t> https://wiki.wireshark.org/uploads/__moin_import__/attachments/SampleCaptures/smtp.pcap</a:t>
            </a:r>
          </a:p>
          <a:p>
            <a:r>
              <a:rPr lang="en-US"/>
              <a:t>https://raw.githubusercontent.com/frankwxu/digital-forensics-lab/main/Networking_Forensics/lab_files/smtp/smtp/pcap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1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base64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Base64-encoded text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base64_text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"Z3VycGFydGFwQHBhdHJpb3RzLmlu"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Decode Base64-encoded text to ASCII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ascii_text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base64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b64decode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base64_text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decode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'utf-8'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Print the decoded ASCII text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ascii_text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95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77497" y="6176963"/>
            <a:ext cx="12346994" cy="696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1drv.ms/u/c/a674908a5e2e2f2a/IQCxeS9E8R2QQL_9dBO72tMgAZ0_tnLq1ZJdoqgIvg9PVMc?e=8BbLb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lDI0in5c8o4?start=168&amp;feature=oembed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Email Traffic Forensics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SMTP</a:t>
            </a:r>
          </a:p>
          <a:p>
            <a:r>
              <a:rPr lang="en-US" sz="1500" dirty="0"/>
              <a:t>Traffic files: </a:t>
            </a:r>
            <a:r>
              <a:rPr lang="en-US" sz="1600" dirty="0" err="1">
                <a:hlinkClick r:id="rId3"/>
              </a:rPr>
              <a:t>smtp.pcap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6202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D4419-48D7-C69F-9805-E6EE399AB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E3751-CBD9-3000-873A-72442E8BF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Mail Transfer Protocol </a:t>
            </a:r>
          </a:p>
          <a:p>
            <a:r>
              <a:rPr lang="en-US" dirty="0"/>
              <a:t>Hands-on lab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latin typeface="OCRB" panose="020B0609020202020204" pitchFamily="49" charset="0"/>
              </a:rPr>
              <a:t>.</a:t>
            </a:r>
            <a:r>
              <a:rPr lang="en-US" dirty="0" err="1">
                <a:latin typeface="OCRB" panose="020B0609020202020204" pitchFamily="49" charset="0"/>
              </a:rPr>
              <a:t>pcap</a:t>
            </a:r>
            <a:r>
              <a:rPr lang="en-US" dirty="0">
                <a:latin typeface="OCRB" panose="020B0609020202020204" pitchFamily="49" charset="0"/>
              </a:rPr>
              <a:t> </a:t>
            </a:r>
            <a:r>
              <a:rPr lang="en-US" dirty="0"/>
              <a:t>file contains MS Outlook email traffic</a:t>
            </a:r>
          </a:p>
          <a:p>
            <a:pPr lvl="1"/>
            <a:r>
              <a:rPr lang="en-US" dirty="0"/>
              <a:t>Assume the traffic is decreased</a:t>
            </a:r>
          </a:p>
        </p:txBody>
      </p:sp>
    </p:spTree>
    <p:extLst>
      <p:ext uri="{BB962C8B-B14F-4D97-AF65-F5344CB8AC3E}">
        <p14:creationId xmlns:p14="http://schemas.microsoft.com/office/powerpoint/2010/main" val="873956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956DE6-F8D0-E018-AE34-F6723AA6F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Mail Transfer Protocol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B57072-3893-EF3E-82C8-8C52B590B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26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99E17B-EA89-FE94-7CBC-5EDE9028B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Simple Mail Transfer Protocol (SMTP)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69F18C8D-5088-0416-377E-C35448A35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24696"/>
          </a:xfrm>
        </p:spPr>
        <p:txBody>
          <a:bodyPr/>
          <a:lstStyle/>
          <a:p>
            <a:r>
              <a:rPr lang="en-GB" dirty="0"/>
              <a:t>It is a protocol used for sending and receiving email messages over the Internet.</a:t>
            </a:r>
          </a:p>
          <a:p>
            <a:endParaRPr lang="en-US" dirty="0"/>
          </a:p>
        </p:txBody>
      </p:sp>
      <p:pic>
        <p:nvPicPr>
          <p:cNvPr id="5" name="Picture 10" descr="Cloud Outline Library Icon PNG Transparent Background, Free Download #22300  - FreeIconsPNG">
            <a:extLst>
              <a:ext uri="{FF2B5EF4-FFF2-40B4-BE49-F238E27FC236}">
                <a16:creationId xmlns:a16="http://schemas.microsoft.com/office/drawing/2014/main" id="{BE3095A2-3105-3C8A-B24F-07E6201C7A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75" b="16357"/>
          <a:stretch/>
        </p:blipFill>
        <p:spPr bwMode="auto">
          <a:xfrm>
            <a:off x="3056665" y="3128419"/>
            <a:ext cx="5018621" cy="2894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892033-1D6D-6FCC-51A5-3BF812DD86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233" y="4209873"/>
            <a:ext cx="1424354" cy="1424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6CEE8B-44D5-3A0F-43C2-D4E9851C8C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5704" y="4209873"/>
            <a:ext cx="966264" cy="13730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982CD8-7BB7-AC2F-C16E-AFA60A3861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466" y="4252413"/>
            <a:ext cx="966264" cy="1373022"/>
          </a:xfrm>
          <a:prstGeom prst="rect">
            <a:avLst/>
          </a:prstGeom>
        </p:spPr>
      </p:pic>
      <p:pic>
        <p:nvPicPr>
          <p:cNvPr id="9" name="Picture 2" descr="EasyMail - Gmail and Hotmail - AppRecs">
            <a:extLst>
              <a:ext uri="{FF2B5EF4-FFF2-40B4-BE49-F238E27FC236}">
                <a16:creationId xmlns:a16="http://schemas.microsoft.com/office/drawing/2014/main" id="{16BD6744-DEAB-E297-4708-29AB403D7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146" y="4543028"/>
            <a:ext cx="565394" cy="565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52407D-9EE1-7551-ADE6-F68D4041170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848" y="4681804"/>
            <a:ext cx="395659" cy="2878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28D4FD-1E5A-02FE-3B59-5ACCEB4770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3228" y="4143930"/>
            <a:ext cx="1928868" cy="1470220"/>
          </a:xfrm>
          <a:prstGeom prst="rect">
            <a:avLst/>
          </a:prstGeom>
        </p:spPr>
      </p:pic>
      <p:pic>
        <p:nvPicPr>
          <p:cNvPr id="12" name="Picture 2" descr="EasyMail - Gmail and Hotmail - AppRecs">
            <a:extLst>
              <a:ext uri="{FF2B5EF4-FFF2-40B4-BE49-F238E27FC236}">
                <a16:creationId xmlns:a16="http://schemas.microsoft.com/office/drawing/2014/main" id="{FF6EB7EF-FCF5-ACC8-5B19-747A8BF02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913" y="4373530"/>
            <a:ext cx="565394" cy="565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ight Arrow 13">
            <a:extLst>
              <a:ext uri="{FF2B5EF4-FFF2-40B4-BE49-F238E27FC236}">
                <a16:creationId xmlns:a16="http://schemas.microsoft.com/office/drawing/2014/main" id="{48067AE5-368D-567B-E5AA-8E75867C778B}"/>
              </a:ext>
            </a:extLst>
          </p:cNvPr>
          <p:cNvSpPr/>
          <p:nvPr/>
        </p:nvSpPr>
        <p:spPr>
          <a:xfrm>
            <a:off x="2743164" y="4706638"/>
            <a:ext cx="1107830" cy="17240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8">
            <a:extLst>
              <a:ext uri="{FF2B5EF4-FFF2-40B4-BE49-F238E27FC236}">
                <a16:creationId xmlns:a16="http://schemas.microsoft.com/office/drawing/2014/main" id="{468E2C83-EAC7-4630-9E41-94E30E014E82}"/>
              </a:ext>
            </a:extLst>
          </p:cNvPr>
          <p:cNvSpPr/>
          <p:nvPr/>
        </p:nvSpPr>
        <p:spPr>
          <a:xfrm>
            <a:off x="5071802" y="4706638"/>
            <a:ext cx="1107830" cy="17240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9">
            <a:extLst>
              <a:ext uri="{FF2B5EF4-FFF2-40B4-BE49-F238E27FC236}">
                <a16:creationId xmlns:a16="http://schemas.microsoft.com/office/drawing/2014/main" id="{F1C08826-982B-3B1F-B790-623733D29390}"/>
              </a:ext>
            </a:extLst>
          </p:cNvPr>
          <p:cNvSpPr/>
          <p:nvPr/>
        </p:nvSpPr>
        <p:spPr>
          <a:xfrm>
            <a:off x="7438948" y="4697846"/>
            <a:ext cx="1107830" cy="17240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96740E-0BEB-060F-0842-7E47873DEED1}"/>
              </a:ext>
            </a:extLst>
          </p:cNvPr>
          <p:cNvSpPr txBox="1"/>
          <p:nvPr/>
        </p:nvSpPr>
        <p:spPr>
          <a:xfrm>
            <a:off x="2918597" y="4346098"/>
            <a:ext cx="71846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SMTP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36A04A-086C-98BD-9471-076A006385AD}"/>
              </a:ext>
            </a:extLst>
          </p:cNvPr>
          <p:cNvSpPr txBox="1"/>
          <p:nvPr/>
        </p:nvSpPr>
        <p:spPr>
          <a:xfrm>
            <a:off x="5260784" y="4282576"/>
            <a:ext cx="71846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SMTP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21A15B-FD16-FDF2-3862-033BAFC86181}"/>
              </a:ext>
            </a:extLst>
          </p:cNvPr>
          <p:cNvSpPr txBox="1"/>
          <p:nvPr/>
        </p:nvSpPr>
        <p:spPr>
          <a:xfrm>
            <a:off x="7514546" y="4278152"/>
            <a:ext cx="69121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IMAP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ED7E3B-E574-44CD-9957-31C11C4DD62C}"/>
              </a:ext>
            </a:extLst>
          </p:cNvPr>
          <p:cNvSpPr/>
          <p:nvPr/>
        </p:nvSpPr>
        <p:spPr>
          <a:xfrm>
            <a:off x="2813089" y="6038673"/>
            <a:ext cx="5262197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SMTP (Simple Mail Transfer Protocol): sending emails</a:t>
            </a:r>
          </a:p>
          <a:p>
            <a:r>
              <a:rPr lang="en-US" sz="1600" dirty="0">
                <a:solidFill>
                  <a:srgbClr val="00B050"/>
                </a:solidFill>
              </a:rPr>
              <a:t>IMAP (Internet Access Message Protocol):  </a:t>
            </a:r>
            <a:r>
              <a:rPr lang="en-US" sz="1600" b="1" dirty="0">
                <a:solidFill>
                  <a:srgbClr val="FF0000"/>
                </a:solidFill>
              </a:rPr>
              <a:t>download</a:t>
            </a:r>
            <a:r>
              <a:rPr lang="en-US" sz="1600" dirty="0"/>
              <a:t> </a:t>
            </a:r>
            <a:r>
              <a:rPr lang="en-US" sz="1600" dirty="0">
                <a:solidFill>
                  <a:srgbClr val="00B050"/>
                </a:solidFill>
              </a:rPr>
              <a:t>emails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EEF9122-E81E-451E-18A7-B981A84B775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1563" y="4382475"/>
            <a:ext cx="592197" cy="43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84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E1522-4F5A-464A-6D7F-A8F71D40A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Mail Transfer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D62B7-3D15-A2DF-2331-161F3597D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SMTP operates on port </a:t>
            </a:r>
            <a:r>
              <a:rPr lang="en-GB" dirty="0">
                <a:solidFill>
                  <a:srgbClr val="FF0000"/>
                </a:solidFill>
              </a:rPr>
              <a:t>25</a:t>
            </a:r>
            <a:r>
              <a:rPr lang="en-GB" dirty="0"/>
              <a:t> by default, but other ports such as </a:t>
            </a:r>
            <a:r>
              <a:rPr lang="en-GB" dirty="0">
                <a:solidFill>
                  <a:srgbClr val="FF0000"/>
                </a:solidFill>
              </a:rPr>
              <a:t>587</a:t>
            </a:r>
            <a:r>
              <a:rPr lang="en-GB" dirty="0"/>
              <a:t> and </a:t>
            </a:r>
            <a:r>
              <a:rPr lang="en-GB" dirty="0">
                <a:solidFill>
                  <a:srgbClr val="FF0000"/>
                </a:solidFill>
              </a:rPr>
              <a:t>465</a:t>
            </a:r>
            <a:r>
              <a:rPr lang="en-GB" dirty="0"/>
              <a:t> may also be used. </a:t>
            </a:r>
          </a:p>
          <a:p>
            <a:r>
              <a:rPr lang="en-GB" dirty="0"/>
              <a:t>SMTP uses a set of commands and responses to transfer email messages between clients and servers.</a:t>
            </a:r>
          </a:p>
          <a:p>
            <a:r>
              <a:rPr lang="en-GB" dirty="0"/>
              <a:t>SMTP is a plain text protocol</a:t>
            </a:r>
          </a:p>
          <a:p>
            <a:pPr lvl="1"/>
            <a:r>
              <a:rPr lang="en-GB" dirty="0"/>
              <a:t>data transmitted between clients and servers is not encrypted by default. </a:t>
            </a:r>
          </a:p>
          <a:p>
            <a:r>
              <a:rPr lang="en-GB" dirty="0"/>
              <a:t>SMTPS for secure email transmissions</a:t>
            </a:r>
          </a:p>
          <a:p>
            <a:pPr lvl="1"/>
            <a:r>
              <a:rPr lang="en-GB" dirty="0"/>
              <a:t>SMTP over SSL/TLS</a:t>
            </a:r>
          </a:p>
          <a:p>
            <a:pPr lvl="1"/>
            <a:r>
              <a:rPr lang="en-GB" dirty="0"/>
              <a:t>STARTTLS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325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8CD05-D099-9D32-CAF8-7CF784A35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SSL/TLS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691B0-DCE9-4ECA-E71E-F10FCE1F9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SSL (Secure Sockets Layer) and TLS (Transport Layer Security) are cryptographic protocols that provide secure communication over the internet. </a:t>
            </a:r>
          </a:p>
          <a:p>
            <a:pPr lvl="1"/>
            <a:r>
              <a:rPr lang="en-GB" dirty="0"/>
              <a:t>SSL is the predecessor to TLS, and is no longer considered secure. </a:t>
            </a:r>
          </a:p>
          <a:p>
            <a:r>
              <a:rPr lang="en-GB" dirty="0"/>
              <a:t>Key security features</a:t>
            </a:r>
          </a:p>
          <a:p>
            <a:pPr lvl="1"/>
            <a:r>
              <a:rPr lang="en-GB" dirty="0"/>
              <a:t>Authentication: SSL and TLS provide mechanisms for authenticating the identity of the client and server, so that both parties can be sure they are communicating with the intended party.</a:t>
            </a:r>
          </a:p>
          <a:p>
            <a:pPr lvl="1"/>
            <a:r>
              <a:rPr lang="en-GB" dirty="0"/>
              <a:t>Data encryption: SSL and TLS encrypt data transmitted over the internet, so that it cannot be intercepted and read by unauthorized parties.</a:t>
            </a:r>
          </a:p>
          <a:p>
            <a:pPr lvl="1"/>
            <a:r>
              <a:rPr lang="en-GB" dirty="0"/>
              <a:t>Data integrity: SSL and TLS ensure the integrity of data transmitted over the internet, so that it cannot be modified in transit without detection.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110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complete overview of SSL/TLS and its cryptographic system - DEV Community">
            <a:extLst>
              <a:ext uri="{FF2B5EF4-FFF2-40B4-BE49-F238E27FC236}">
                <a16:creationId xmlns:a16="http://schemas.microsoft.com/office/drawing/2014/main" id="{4B215F0C-B2D9-A9F8-E9B8-C3F0BDAB5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071563"/>
            <a:ext cx="8382000" cy="47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D3E3FD-15AB-9B18-622E-B871CDC91E0A}"/>
              </a:ext>
            </a:extLst>
          </p:cNvPr>
          <p:cNvSpPr txBox="1"/>
          <p:nvPr/>
        </p:nvSpPr>
        <p:spPr>
          <a:xfrm>
            <a:off x="3208413" y="6335772"/>
            <a:ext cx="61698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https://dev.to/techschoolguru/a-complete-overview-of-ssl-tls-and-its-cryptographic-system-36pd</a:t>
            </a:r>
          </a:p>
        </p:txBody>
      </p:sp>
    </p:spTree>
    <p:extLst>
      <p:ext uri="{BB962C8B-B14F-4D97-AF65-F5344CB8AC3E}">
        <p14:creationId xmlns:p14="http://schemas.microsoft.com/office/powerpoint/2010/main" val="2762632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78BCDE-38E3-6971-45EF-0A0F58203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SMTP is an application layer protocol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783DC8-6C1A-73FF-7E16-02FD6A4A1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76895"/>
            <a:ext cx="10857579" cy="3985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0F51B4-BFD1-B745-A128-6C105DF667B4}"/>
              </a:ext>
            </a:extLst>
          </p:cNvPr>
          <p:cNvSpPr txBox="1"/>
          <p:nvPr/>
        </p:nvSpPr>
        <p:spPr>
          <a:xfrm>
            <a:off x="4473333" y="6492875"/>
            <a:ext cx="3451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https://www.fehcom.de/qmail/smtptls.html</a:t>
            </a:r>
          </a:p>
        </p:txBody>
      </p:sp>
    </p:spTree>
    <p:extLst>
      <p:ext uri="{BB962C8B-B14F-4D97-AF65-F5344CB8AC3E}">
        <p14:creationId xmlns:p14="http://schemas.microsoft.com/office/powerpoint/2010/main" val="3281906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7C41AE-F87E-EBE6-0DE2-5191E352B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Lab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DC85C-3BFA-DEDF-AAD3-F25BEE421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27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How To Monitor Emails (SMTP) With Wireshark">
            <a:hlinkClick r:id="" action="ppaction://media"/>
            <a:extLst>
              <a:ext uri="{FF2B5EF4-FFF2-40B4-BE49-F238E27FC236}">
                <a16:creationId xmlns:a16="http://schemas.microsoft.com/office/drawing/2014/main" id="{C54E849C-10AC-8BF2-4062-C80AAE2C28F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357120" y="1805305"/>
            <a:ext cx="6969760" cy="393791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8CF740C-A863-B136-F42B-9B9BC5AB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Capture Emails traffic With Wireshark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17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4635EA-2C05-1FD9-5EEB-58F830798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27" y="1994344"/>
            <a:ext cx="10539373" cy="35588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287B71-15A2-812D-AC6B-180CBAD823A8}"/>
              </a:ext>
            </a:extLst>
          </p:cNvPr>
          <p:cNvSpPr txBox="1"/>
          <p:nvPr/>
        </p:nvSpPr>
        <p:spPr>
          <a:xfrm>
            <a:off x="1678337" y="5748440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https://wiki.wireshark.org/SampleCaptures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96C859-06D8-653E-C425-A6578D689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Files</a:t>
            </a:r>
          </a:p>
        </p:txBody>
      </p:sp>
    </p:spTree>
    <p:extLst>
      <p:ext uri="{BB962C8B-B14F-4D97-AF65-F5344CB8AC3E}">
        <p14:creationId xmlns:p14="http://schemas.microsoft.com/office/powerpoint/2010/main" val="1753387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98B89F-4640-CDB1-B3C3-CE1996C3E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791" y="1981094"/>
            <a:ext cx="8996233" cy="25680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884873-F578-792C-2D39-4A1797EA7DC3}"/>
              </a:ext>
            </a:extLst>
          </p:cNvPr>
          <p:cNvSpPr txBox="1"/>
          <p:nvPr/>
        </p:nvSpPr>
        <p:spPr>
          <a:xfrm>
            <a:off x="1279791" y="1611762"/>
            <a:ext cx="217386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Download </a:t>
            </a:r>
            <a:r>
              <a:rPr lang="en-US" dirty="0" err="1"/>
              <a:t>smtp.pcap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898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ABD3-B2D6-9E62-D6CC-4DE930CA4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SMTP first response “service ready”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6E7C0C-2C0F-077F-FA2E-E2F69E839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588" y="1592421"/>
            <a:ext cx="10188823" cy="3673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AD135B-63B1-4DD4-5C71-AA45D1209204}"/>
              </a:ext>
            </a:extLst>
          </p:cNvPr>
          <p:cNvSpPr txBox="1"/>
          <p:nvPr/>
        </p:nvSpPr>
        <p:spPr>
          <a:xfrm>
            <a:off x="1001588" y="5388292"/>
            <a:ext cx="9532425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/>
              <a:t>indicates that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device is running an SMTP server and is ready to receive email messages.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additional information about the server and a warning that the server does not authorize the use of its system to send unsolicited or bulk emails.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633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8690C4-6F5D-A80A-3AC0-F58A47CD9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6121"/>
            <a:ext cx="12192000" cy="54057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FA508E-A946-7CFA-E9CE-7A8853CB68A0}"/>
              </a:ext>
            </a:extLst>
          </p:cNvPr>
          <p:cNvSpPr txBox="1"/>
          <p:nvPr/>
        </p:nvSpPr>
        <p:spPr>
          <a:xfrm>
            <a:off x="8161020" y="2438400"/>
            <a:ext cx="2836291" cy="647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Username and password are base64 encoded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FD96519-FE38-CF06-BCC6-5AEB896393F3}"/>
              </a:ext>
            </a:extLst>
          </p:cNvPr>
          <p:cNvCxnSpPr/>
          <p:nvPr/>
        </p:nvCxnSpPr>
        <p:spPr>
          <a:xfrm flipH="1" flipV="1">
            <a:off x="7315200" y="2590800"/>
            <a:ext cx="762000" cy="171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937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B3F69-121F-6E9D-B96F-EC14CFEBF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Base64 encoding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760B8-D377-01C9-D125-44BB05598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59285" cy="4351338"/>
          </a:xfrm>
        </p:spPr>
        <p:txBody>
          <a:bodyPr/>
          <a:lstStyle/>
          <a:p>
            <a:r>
              <a:rPr lang="en-GB" dirty="0"/>
              <a:t>Base64 encoding is a way to represent binary data in a text format. </a:t>
            </a:r>
          </a:p>
          <a:p>
            <a:r>
              <a:rPr lang="en-GB" dirty="0"/>
              <a:t>It is often used in email messages, HTML pages, and other types of text-based communication to transfer binary data such as images, audio files, or other types of non-text data.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9C44FC-588D-BDC8-1465-C5601FDD0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2175" y="1624013"/>
            <a:ext cx="6219825" cy="455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839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635CA0-D3AB-4F68-4F76-6EBE6CA30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40C7910-B72C-1432-9CE9-0D7401853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37" y="1615782"/>
            <a:ext cx="8493588" cy="23492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3802E3C-8CD5-E5D1-4912-465E1E4EF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37" y="4277753"/>
            <a:ext cx="8493588" cy="237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795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90494-5760-2B07-E76D-BC881FD62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758" y="2211475"/>
            <a:ext cx="8387480" cy="232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335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DAAFE9-D3A3-01AD-7972-A1F3FCB2F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820" y="1813727"/>
            <a:ext cx="9163079" cy="43046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26339D0-FFE2-90DE-BFA7-C309BAA8F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Decoding Based64 to text</a:t>
            </a:r>
          </a:p>
        </p:txBody>
      </p:sp>
    </p:spTree>
    <p:extLst>
      <p:ext uri="{BB962C8B-B14F-4D97-AF65-F5344CB8AC3E}">
        <p14:creationId xmlns:p14="http://schemas.microsoft.com/office/powerpoint/2010/main" val="2384207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7BE18C-6D3A-9702-B13C-8CA581D81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16" y="2982775"/>
            <a:ext cx="8350672" cy="435189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BEE9FDD-E840-0101-8993-B9FD83740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Decoding username</a:t>
            </a:r>
          </a:p>
        </p:txBody>
      </p:sp>
    </p:spTree>
    <p:extLst>
      <p:ext uri="{BB962C8B-B14F-4D97-AF65-F5344CB8AC3E}">
        <p14:creationId xmlns:p14="http://schemas.microsoft.com/office/powerpoint/2010/main" val="3244820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4E5E69-13D0-FBD7-D6AA-6CBFDB8E4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155" y="948475"/>
            <a:ext cx="8885690" cy="496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257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8B00D8-1628-68A7-ABAC-2194BA8E8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411" y="1542886"/>
            <a:ext cx="7811177" cy="377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616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BCCCD9-F311-09A2-CD9B-0564007A5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789" y="1546697"/>
            <a:ext cx="6942422" cy="376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731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E3ADCC-0137-7B13-34AE-A7A657504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704" y="1695300"/>
            <a:ext cx="7742591" cy="34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830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E86480-CB24-4F77-AF42-1F5150E9B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518" y="1116129"/>
            <a:ext cx="9502964" cy="4625741"/>
          </a:xfrm>
          <a:prstGeom prst="rect">
            <a:avLst/>
          </a:prstGeom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71446B98-1B14-45CC-334C-EA0BABB995EC}"/>
              </a:ext>
            </a:extLst>
          </p:cNvPr>
          <p:cNvSpPr/>
          <p:nvPr/>
        </p:nvSpPr>
        <p:spPr>
          <a:xfrm>
            <a:off x="10911840" y="4038600"/>
            <a:ext cx="121920" cy="7924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E30088-01CF-31AF-386A-0BF8CE3DF0E3}"/>
              </a:ext>
            </a:extLst>
          </p:cNvPr>
          <p:cNvSpPr txBox="1"/>
          <p:nvPr/>
        </p:nvSpPr>
        <p:spPr>
          <a:xfrm>
            <a:off x="10431836" y="4250174"/>
            <a:ext cx="133421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ignore them</a:t>
            </a:r>
          </a:p>
        </p:txBody>
      </p:sp>
    </p:spTree>
    <p:extLst>
      <p:ext uri="{BB962C8B-B14F-4D97-AF65-F5344CB8AC3E}">
        <p14:creationId xmlns:p14="http://schemas.microsoft.com/office/powerpoint/2010/main" val="2451654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5E27A7-ABEE-2539-DECB-53C7BC552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7681"/>
            <a:ext cx="12192000" cy="53826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7E1E2B-A2C8-6C3A-BE71-FBD62A258B6D}"/>
              </a:ext>
            </a:extLst>
          </p:cNvPr>
          <p:cNvSpPr txBox="1"/>
          <p:nvPr/>
        </p:nvSpPr>
        <p:spPr>
          <a:xfrm>
            <a:off x="160256" y="386499"/>
            <a:ext cx="674684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Show email content (14 fragments, Wireshark reassemble them at 45)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E0A30F-9FF6-B343-FB22-F6955F16FF6D}"/>
              </a:ext>
            </a:extLst>
          </p:cNvPr>
          <p:cNvSpPr txBox="1"/>
          <p:nvPr/>
        </p:nvSpPr>
        <p:spPr>
          <a:xfrm>
            <a:off x="6129863" y="5189220"/>
            <a:ext cx="314746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email client: office outlook 12.0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C077367-DA23-A7EB-1A0A-4D925382B1B4}"/>
              </a:ext>
            </a:extLst>
          </p:cNvPr>
          <p:cNvCxnSpPr/>
          <p:nvPr/>
        </p:nvCxnSpPr>
        <p:spPr>
          <a:xfrm flipH="1" flipV="1">
            <a:off x="3147060" y="5288280"/>
            <a:ext cx="2948940" cy="137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8651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8E84B4-C480-BE59-FB03-332CCB995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51" y="1269382"/>
            <a:ext cx="9617273" cy="48848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DC4821-71CE-03F3-851C-146F23FEA468}"/>
              </a:ext>
            </a:extLst>
          </p:cNvPr>
          <p:cNvSpPr txBox="1"/>
          <p:nvPr/>
        </p:nvSpPr>
        <p:spPr>
          <a:xfrm>
            <a:off x="1353351" y="900050"/>
            <a:ext cx="337842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Show email content (text content)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CE509-8894-5831-3B3C-EFDEF17B19CD}"/>
              </a:ext>
            </a:extLst>
          </p:cNvPr>
          <p:cNvSpPr txBox="1"/>
          <p:nvPr/>
        </p:nvSpPr>
        <p:spPr>
          <a:xfrm>
            <a:off x="169682" y="2733773"/>
            <a:ext cx="990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first part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F01075E-0C7A-5BA2-B61E-ECDE31676284}"/>
              </a:ext>
            </a:extLst>
          </p:cNvPr>
          <p:cNvCxnSpPr/>
          <p:nvPr/>
        </p:nvCxnSpPr>
        <p:spPr>
          <a:xfrm flipV="1">
            <a:off x="1027522" y="2413262"/>
            <a:ext cx="603315" cy="505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706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1E9492-89BC-974F-661D-3C7711A53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468" y="1207577"/>
            <a:ext cx="10425063" cy="444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0287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A60D24-C33C-CD12-0FE0-004405A94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5587"/>
            <a:ext cx="12192000" cy="57468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B6FA1A-A629-2808-1B3A-44CB068F0DA6}"/>
              </a:ext>
            </a:extLst>
          </p:cNvPr>
          <p:cNvSpPr txBox="1"/>
          <p:nvPr/>
        </p:nvSpPr>
        <p:spPr>
          <a:xfrm>
            <a:off x="0" y="186255"/>
            <a:ext cx="530446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Show email content (Alternative approach: follow TCP)</a:t>
            </a:r>
          </a:p>
        </p:txBody>
      </p:sp>
    </p:spTree>
    <p:extLst>
      <p:ext uri="{BB962C8B-B14F-4D97-AF65-F5344CB8AC3E}">
        <p14:creationId xmlns:p14="http://schemas.microsoft.com/office/powerpoint/2010/main" val="8824666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82100B-11E4-5112-3071-346771096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596" y="0"/>
            <a:ext cx="63968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3662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C8057-B744-8972-AC99-BB68CFCC3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you need to 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E36C0-7010-4578-28A9-4DFB9B3E3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When did it happen?</a:t>
            </a:r>
          </a:p>
          <a:p>
            <a:pPr lvl="1"/>
            <a:r>
              <a:rPr lang="en-GB" dirty="0"/>
              <a:t>the timestamps email</a:t>
            </a:r>
          </a:p>
          <a:p>
            <a:r>
              <a:rPr lang="en-GB"/>
              <a:t>The email client</a:t>
            </a:r>
            <a:endParaRPr lang="en-GB" dirty="0"/>
          </a:p>
          <a:p>
            <a:pPr lvl="1"/>
            <a:r>
              <a:rPr lang="en-GB" dirty="0"/>
              <a:t>outlook</a:t>
            </a:r>
          </a:p>
          <a:p>
            <a:r>
              <a:rPr lang="en-GB" dirty="0"/>
              <a:t>The content of the email</a:t>
            </a:r>
          </a:p>
          <a:p>
            <a:pPr lvl="1"/>
            <a:r>
              <a:rPr lang="en-GB" dirty="0"/>
              <a:t>multiple parts</a:t>
            </a:r>
          </a:p>
          <a:p>
            <a:r>
              <a:rPr lang="en-GB" dirty="0"/>
              <a:t>What was the approach?</a:t>
            </a:r>
          </a:p>
          <a:p>
            <a:pPr lvl="1"/>
            <a:r>
              <a:rPr lang="en-GB" dirty="0"/>
              <a:t>ports (sender and receiver)</a:t>
            </a:r>
          </a:p>
          <a:p>
            <a:pPr lvl="1"/>
            <a:r>
              <a:rPr lang="en-GB" dirty="0"/>
              <a:t>IP addresses (sender and receiver)</a:t>
            </a:r>
          </a:p>
          <a:p>
            <a:pPr lvl="1"/>
            <a:r>
              <a:rPr lang="en-GB" dirty="0"/>
              <a:t>Mac addresses (sender and receiver)</a:t>
            </a:r>
          </a:p>
        </p:txBody>
      </p:sp>
    </p:spTree>
    <p:extLst>
      <p:ext uri="{BB962C8B-B14F-4D97-AF65-F5344CB8AC3E}">
        <p14:creationId xmlns:p14="http://schemas.microsoft.com/office/powerpoint/2010/main" val="4026948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19672-C09E-CF84-67EA-1E64CAC21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credits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528FA-D0DA-F2BA-BE7B-644B3D4C6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Sniff SMTP traffic</a:t>
            </a:r>
          </a:p>
        </p:txBody>
      </p:sp>
    </p:spTree>
    <p:extLst>
      <p:ext uri="{BB962C8B-B14F-4D97-AF65-F5344CB8AC3E}">
        <p14:creationId xmlns:p14="http://schemas.microsoft.com/office/powerpoint/2010/main" val="4081980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35370</TotalTime>
  <Words>639</Words>
  <Application>Microsoft Office PowerPoint</Application>
  <PresentationFormat>Widescreen</PresentationFormat>
  <Paragraphs>82</Paragraphs>
  <Slides>31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Consolas</vt:lpstr>
      <vt:lpstr>OCRB</vt:lpstr>
      <vt:lpstr>Office Theme</vt:lpstr>
      <vt:lpstr>Email Traffic Forensics</vt:lpstr>
      <vt:lpstr>Overview</vt:lpstr>
      <vt:lpstr>Simple Mail Transfer Protocol </vt:lpstr>
      <vt:lpstr> Simple Mail Transfer Protocol (SMTP)</vt:lpstr>
      <vt:lpstr>Simple Mail Transfer Protocol</vt:lpstr>
      <vt:lpstr>SSL/TLS</vt:lpstr>
      <vt:lpstr>PowerPoint Presentation</vt:lpstr>
      <vt:lpstr>SMTP is an application layer protocol</vt:lpstr>
      <vt:lpstr>Hands-on Lab</vt:lpstr>
      <vt:lpstr>Capture Emails traffic With Wireshark</vt:lpstr>
      <vt:lpstr>Lab Files</vt:lpstr>
      <vt:lpstr>PowerPoint Presentation</vt:lpstr>
      <vt:lpstr>SMTP first response “service ready”</vt:lpstr>
      <vt:lpstr>PowerPoint Presentation</vt:lpstr>
      <vt:lpstr>What is Base64 encoding </vt:lpstr>
      <vt:lpstr>Conversion </vt:lpstr>
      <vt:lpstr>PowerPoint Presentation</vt:lpstr>
      <vt:lpstr>Decoding Based64 to text</vt:lpstr>
      <vt:lpstr>Decoding username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 you need to answer</vt:lpstr>
      <vt:lpstr>Extra credits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Aminu Idris</cp:lastModifiedBy>
  <cp:revision>2418</cp:revision>
  <dcterms:created xsi:type="dcterms:W3CDTF">2020-09-14T14:43:27Z</dcterms:created>
  <dcterms:modified xsi:type="dcterms:W3CDTF">2026-07-22T04:55:30Z</dcterms:modified>
</cp:coreProperties>
</file>