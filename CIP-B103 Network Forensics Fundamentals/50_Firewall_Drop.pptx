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549" r:id="rId3"/>
    <p:sldId id="550" r:id="rId4"/>
    <p:sldId id="551" r:id="rId5"/>
    <p:sldId id="552" r:id="rId6"/>
    <p:sldId id="540" r:id="rId7"/>
    <p:sldId id="543" r:id="rId8"/>
    <p:sldId id="538" r:id="rId9"/>
    <p:sldId id="536" r:id="rId10"/>
    <p:sldId id="557" r:id="rId11"/>
    <p:sldId id="539" r:id="rId12"/>
    <p:sldId id="541" r:id="rId13"/>
    <p:sldId id="542" r:id="rId14"/>
    <p:sldId id="548" r:id="rId15"/>
    <p:sldId id="535" r:id="rId16"/>
    <p:sldId id="537" r:id="rId17"/>
    <p:sldId id="544" r:id="rId18"/>
    <p:sldId id="553" r:id="rId19"/>
    <p:sldId id="545" r:id="rId20"/>
    <p:sldId id="562" r:id="rId21"/>
    <p:sldId id="565" r:id="rId22"/>
    <p:sldId id="566" r:id="rId23"/>
    <p:sldId id="534" r:id="rId24"/>
    <p:sldId id="564" r:id="rId25"/>
    <p:sldId id="546" r:id="rId26"/>
    <p:sldId id="547" r:id="rId27"/>
    <p:sldId id="563" r:id="rId28"/>
    <p:sldId id="533" r:id="rId29"/>
    <p:sldId id="558" r:id="rId30"/>
    <p:sldId id="559" r:id="rId31"/>
    <p:sldId id="560" r:id="rId32"/>
    <p:sldId id="561" r:id="rId33"/>
    <p:sldId id="52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DB0"/>
    <a:srgbClr val="0000FF"/>
    <a:srgbClr val="F6D6F1"/>
    <a:srgbClr val="EA700D"/>
    <a:srgbClr val="F9EF96"/>
    <a:srgbClr val="0070C0"/>
    <a:srgbClr val="00B050"/>
    <a:srgbClr val="962D2D"/>
    <a:srgbClr val="D99946"/>
    <a:srgbClr val="7E9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91ED2-3874-4763-9BA5-FF80D091E197}" v="5" dt="2026-07-22T05:01:15.8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1" autoAdjust="0"/>
    <p:restoredTop sz="89937" autoAdjust="0"/>
  </p:normalViewPr>
  <p:slideViewPr>
    <p:cSldViewPr snapToGrid="0">
      <p:cViewPr varScale="1">
        <p:scale>
          <a:sx n="57" d="100"/>
          <a:sy n="57" d="100"/>
        </p:scale>
        <p:origin x="1224" y="3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u Idris" userId="a674908a5e2e2f2a" providerId="LiveId" clId="{406A531A-CF7A-4425-A148-9DDE587F8289}"/>
    <pc:docChg chg="modSld modMainMaster">
      <pc:chgData name="Aminu Idris" userId="a674908a5e2e2f2a" providerId="LiveId" clId="{406A531A-CF7A-4425-A148-9DDE587F8289}" dt="2026-07-22T05:01:24.395" v="7" actId="20577"/>
      <pc:docMkLst>
        <pc:docMk/>
      </pc:docMkLst>
      <pc:sldChg chg="modSp mod">
        <pc:chgData name="Aminu Idris" userId="a674908a5e2e2f2a" providerId="LiveId" clId="{406A531A-CF7A-4425-A148-9DDE587F8289}" dt="2026-07-22T05:01:24.395" v="7" actId="20577"/>
        <pc:sldMkLst>
          <pc:docMk/>
          <pc:sldMk cId="162022530" sldId="256"/>
        </pc:sldMkLst>
        <pc:spChg chg="mod">
          <ac:chgData name="Aminu Idris" userId="a674908a5e2e2f2a" providerId="LiveId" clId="{406A531A-CF7A-4425-A148-9DDE587F8289}" dt="2026-07-22T05:01:24.395" v="7" actId="20577"/>
          <ac:spMkLst>
            <pc:docMk/>
            <pc:sldMk cId="162022530" sldId="256"/>
            <ac:spMk id="4" creationId="{00000000-0000-0000-0000-000000000000}"/>
          </ac:spMkLst>
        </pc:spChg>
      </pc:sldChg>
      <pc:sldMasterChg chg="addSp delSp mod">
        <pc:chgData name="Aminu Idris" userId="a674908a5e2e2f2a" providerId="LiveId" clId="{406A531A-CF7A-4425-A148-9DDE587F8289}" dt="2026-07-22T05:00:30.890" v="4" actId="22"/>
        <pc:sldMasterMkLst>
          <pc:docMk/>
          <pc:sldMasterMk cId="813574162" sldId="2147483648"/>
        </pc:sldMasterMkLst>
        <pc:picChg chg="add">
          <ac:chgData name="Aminu Idris" userId="a674908a5e2e2f2a" providerId="LiveId" clId="{406A531A-CF7A-4425-A148-9DDE587F8289}" dt="2026-07-22T05:00:30.890" v="4" actId="22"/>
          <ac:picMkLst>
            <pc:docMk/>
            <pc:sldMasterMk cId="813574162" sldId="2147483648"/>
            <ac:picMk id="8" creationId="{7DD4144D-7F75-E05E-C7FD-FC380FE56E55}"/>
          </ac:picMkLst>
        </pc:picChg>
        <pc:picChg chg="del">
          <ac:chgData name="Aminu Idris" userId="a674908a5e2e2f2a" providerId="LiveId" clId="{406A531A-CF7A-4425-A148-9DDE587F8289}" dt="2026-07-22T05:00:06.310" v="3" actId="478"/>
          <ac:picMkLst>
            <pc:docMk/>
            <pc:sldMasterMk cId="813574162" sldId="2147483648"/>
            <ac:picMk id="1026" creationId="{00000000-0000-0000-0000-000000000000}"/>
          </ac:picMkLst>
        </pc:picChg>
        <pc:picChg chg="del">
          <ac:chgData name="Aminu Idris" userId="a674908a5e2e2f2a" providerId="LiveId" clId="{406A531A-CF7A-4425-A148-9DDE587F8289}" dt="2026-07-22T05:00:04.162" v="2" actId="478"/>
          <ac:picMkLst>
            <pc:docMk/>
            <pc:sldMasterMk cId="813574162" sldId="2147483648"/>
            <ac:picMk id="1028" creationId="{00000000-0000-0000-0000-000000000000}"/>
          </ac:picMkLst>
        </pc:picChg>
        <pc:picChg chg="del">
          <ac:chgData name="Aminu Idris" userId="a674908a5e2e2f2a" providerId="LiveId" clId="{406A531A-CF7A-4425-A148-9DDE587F8289}" dt="2026-07-22T04:59:58.251" v="0" actId="478"/>
          <ac:picMkLst>
            <pc:docMk/>
            <pc:sldMasterMk cId="813574162" sldId="2147483648"/>
            <ac:picMk id="1030" creationId="{00000000-0000-0000-0000-000000000000}"/>
          </ac:picMkLst>
        </pc:picChg>
        <pc:picChg chg="del">
          <ac:chgData name="Aminu Idris" userId="a674908a5e2e2f2a" providerId="LiveId" clId="{406A531A-CF7A-4425-A148-9DDE587F8289}" dt="2026-07-22T05:00:01.216" v="1" actId="478"/>
          <ac:picMkLst>
            <pc:docMk/>
            <pc:sldMasterMk cId="813574162" sldId="2147483648"/>
            <ac:picMk id="1032" creationId="{00000000-0000-0000-0000-000000000000}"/>
          </ac:picMkLst>
        </pc:pic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4T12:46:31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24575,'5'0'0,"0"0"0,0 1 0,0 0 0,0 0 0,0 0 0,0 0 0,-1 1 0,1 0 0,-1 0 0,1 0 0,-1 0 0,0 1 0,1 0 0,4 4 0,3 4 0,0 1 0,-1 0 0,9 15 0,-12-17 0,0 0 0,0 0 0,0-1 0,2 0 0,18 14 0,-9-9 0,0 1 0,-1 1 0,0 0 0,-1 1 0,-2 1 0,1 0 0,16 28 0,-32-46 0,19 25 0,-4-5 0,0 1 0,19 36 0,-28-47 0,1 1 0,0-1 0,1 0 0,0-1 0,1 0 0,12 11 0,-9-9 0,-1 0 0,0 1 0,11 16 0,-17-21 0,31 48 0,48 55 0,-76-102 0,-1-1 0,1-1 0,1 1 0,-1-1 0,1-1 0,14 7 0,16 11 0,-30-15 0,1 0 0,-2 1 0,1 0 0,-1 0 0,12 19 0,16 17 0,-9-18 0,-17-17 0,1 0 0,-2 1 0,1 0 0,14 24 0,-34-37 0,-17-10 0,4 1 0,-13 2-1365,18 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4T12:46:32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0 401 24575,'21'-1'0,"0"2"0,0 0 0,0 2 0,0 0 0,0 1 0,37 14 0,-41-11 0,1-1 0,-1-1 0,2 0 0,-1-1 0,0-1 0,34 1 0,-46-4 0,-1 0 0,0-1 0,0 1 0,0-1 0,0 0 0,-1 0 0,1-1 0,0 0 0,0 0 0,-1 0 0,1 0 0,-1 0 0,0-1 0,1 0 0,-1 0 0,0 0 0,-1-1 0,1 1 0,-1-1 0,1 0 0,-1 0 0,0 0 0,-1 0 0,1 0 0,-1-1 0,1 1 0,-1-1 0,-1 0 0,3-9 0,12-39 0,-8 29 0,-1 0 0,-1-1 0,-1 0 0,3-50 0,-10 40 0,1 26 0,0-1 0,1 0 0,0 0 0,0 1 0,1-1 0,0 0 0,4-10 0,-5 19-49,1-1 1,-1 1-1,1 0 0,0-1 0,0 1 1,-1 0-1,1 0 0,0 0 0,0 0 1,0 0-1,0 0 0,0 0 0,0 0 1,1 0-1,-1 0 0,0 1 0,0-1 1,1 0-1,-1 1 0,0-1 0,1 1 1,-1 0-1,0-1 0,1 1 0,-1 0 0,1 0 1,2 0-1,7 2-6777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4T13:24:31.2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2161 235 24575,'-20'1'0,"1"1"0,-1 1 0,-38 11 0,34-7 0,-47 6 0,64-12 0,-1 0 0,1 1 0,0 0 0,0 0 0,0 0 0,0 1 0,0 0 0,1 1 0,-1-1 0,1 1 0,0 0 0,-9 8 0,9-7 0,-11 5 0,0-1 0,0 0 0,0-2 0,-32 10 0,-65 10 0,38-11 0,42-11 0,1-1 0,-1-1 0,0-2 0,-41-4 0,-4 0 0,-30 2 0,-121 3 0,160 8 0,43-5 0,-45 1 0,42-6 0,0 0 0,-44 5 0,63-3 0,0 1 0,-1 0 0,1 0 0,0 1 0,1 0 0,-1 1 0,-11 7 0,-6 5 0,0-2 0,0-1 0,-37 12 0,45-19 0,-1 0 0,1 2 0,1 0 0,-1 2 0,-26 18 0,38-23 0,1 0 0,0 0 0,0 1 0,1 0 0,0 0 0,0 0 0,1 1 0,0 0 0,0 0 0,0 0 0,1 1 0,1 0 0,-1 0 0,1 0 0,-1 10 0,1-8 0,-1 0 0,0 0 0,0 0 0,-1-1 0,-7 12 0,5-11 0,2-1 0,-1 2 0,2-1 0,-6 17 0,-18 64 0,17-62 0,-9 43 0,18-62 0,0 1 0,1-1 0,0 1 0,1 0 0,1-1 0,0 1 0,0-1 0,1 1 0,0-1 0,7 18 0,-3-14 0,1 1 0,1-1 0,0-1 0,2 1 0,-1-2 0,19 21 0,4 7 0,-28-33 0,2 0 0,-1 0 0,1-1 0,0 0 0,1 0 0,-1-1 0,1 1 0,1-1 0,-1-1 0,1 0 0,16 9 0,-3-5 0,-1 2 0,0 1 0,0 0 0,-1 1 0,23 22 0,17 11 0,-40-31 0,-1 1 0,-1 0 0,16 20 0,-18-18 0,2-1 0,36 30 0,-42-40 0,1 0 0,0-1 0,0-1 0,16 5 0,-16-6 0,0 1 0,0 0 0,0 1 0,-1 0 0,12 9 0,-6-5 0,-1-1 0,1-1 0,0 0 0,1-1 0,0-1 0,0 0 0,30 4 0,-36-8 0,50 8 0,95 30 0,-11 0 0,-97-24 0,-26-10 0,-1 1 0,24 12 0,-35-13 0,0 0 0,-1-1 0,1 0 0,19 5 0,9-1 0,47 5 0,-63-11 0,-1 2 0,1 0 0,-1 1 0,0 2 0,30 13 0,-6-3 0,1-2 0,1-2 0,91 15 0,-139-29 0,75 20 0,-58-14 0,0-2 0,1 1 0,-1-2 0,30 3 0,-19-5 0,38 8 0,-39-4 0,44 1 0,-7-6 0,-18-1 0,-1 2 0,75 11 0,15 10 0,-98-16 0,0-2 0,1-2 0,69-4 0,-25 0 0,-29 1 0,-3 0 0,0 2 0,81 12 0,-125-11 0,1-1 0,1 0 0,-1 0 0,0 0 0,0-1 0,0-1 0,0 1 0,12-3 0,-15 1 0,1 1 0,-1-1 0,1-1 0,-1 1 0,0-1 0,0 0 0,0 0 0,0 0 0,0 0 0,-1-1 0,1 1 0,-1-1 0,3-5 0,26-30 0,-20 25 0,0-1 0,-1 0 0,0-1 0,-1 0 0,-1-1 0,8-19 0,12-33 0,9-28 0,-20 45 0,-11 34 0,0 0 0,7-37 0,4-33 0,-11 62 0,-1 0 0,-2 0 0,2-42 0,-7-293 0,1 355 0,-1 0 0,1 0 0,-2 0 0,1-1 0,-1 1 0,1 0 0,-2 0 0,1 1 0,-5-10 0,-5-10 0,8 14 0,1 0 0,0 0 0,1-1 0,-1-14 0,2 14 0,-1-1 0,-1 1 0,-4-17 0,-70-197 0,50 130 0,-3-5 0,25 89 0,0 0 0,-1 1 0,0 0 0,-1 0 0,0 0 0,-11-12 0,0 2 0,2-1 0,-19-34 0,24 35 0,-1 2 0,-2-1 0,-30-33 0,17 21 0,21 25 0,1 0 0,-1 0 0,0 1 0,0 0 0,-1 0 0,-11-7 0,-27-15 0,17 10 0,-1 0 0,-1 2 0,-58-22 0,25 16 0,26 9 0,0 2 0,-59-11 0,-2 3 0,69 12 0,-1 1 0,1 1 0,-41-1 0,-416 8 0,464-1 0,0 1 0,1 2 0,-40 10 0,38-7 0,-1-2 0,-44 5 0,28-6 0,0 3 0,0 0 0,-59 21 0,11-3 0,75-22-273,0 1 0,0 0 0,0 1 0,-22 13 0,24-10-6553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4T13:24:33.0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24575,'5'0'0,"0"1"0,-1 0 0,1 0 0,0 0 0,-1 0 0,1 1 0,-1 0 0,0 0 0,0 0 0,0 0 0,0 1 0,0 0 0,0 0 0,0 0 0,-1 0 0,0 0 0,5 7 0,6 7 0,-1 1 0,16 30 0,-15-25 0,52 106 0,-9-18 0,16 25 0,-63-115 0,0 0 0,-1 0 0,7 26 0,4 8 0,-6-11 0,-10-32 0,0 1 0,0-1 0,10 18 0,10 20 0,-19-38 0,1 1 0,1 0 0,-1-1 0,2 0 0,10 13 0,47 59 0,-58-75 0,1 1 0,-1 0 0,-1 1 0,0-1 0,7 18 0,-7-14 0,0-1 0,1 0 0,12 16 0,-11-18 0,-1 1 0,-1 1 0,1-1 0,6 22 0,0-1 0,-12-32-28,0 1 1,-1-1-1,1 0 0,-1 0 0,1 1 0,-1-1 0,1 0 0,-1 1 0,0-1 1,0 0-1,1 1 0,-1-1 0,0 0 0,0 1 0,-1-1 0,1 1 1,0-1-1,0 0 0,-1 1 0,1-1 0,0 0 0,-1 1 0,0-1 1,1 0-1,-1 0 0,0 0 0,1 1 0,-1-1 0,0 0 0,0 0 1,0 0-1,0 0 0,0 0 0,0-1 0,0 1 0,0 0 0,-1 0 0,1-1 1,0 1-1,0 0 0,-1-1 0,1 0 0,0 1 0,-1-1 0,1 0 1,0 1-1,-1-1 0,-1 0 0,-13 2-6798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4T13:24:34.3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0 464 24575,'5'1'0,"0"0"0,-1 1 0,1 0 0,-1 0 0,0 0 0,0 1 0,8 5 0,-1-1 0,227 140 0,-219-134 0,-13-8 0,-1-1 0,1 0 0,0-1 0,11 6 0,-17-9 0,1 0 0,-1 0 0,0-1 0,1 1 0,-1 0 0,1 0 0,-1 0 0,0 0 0,1 0 0,-1 0 0,0-1 0,1 1 0,-1 0 0,0 0 0,1-1 0,-1 1 0,0 0 0,0 0 0,1-1 0,-1 1 0,0 0 0,0-1 0,1 1 0,-1 0 0,0-1 0,0 1 0,0 0 0,0-1 0,0 1 0,1 0 0,-1-1 0,0 0 0,4-18 0,-2 11 0,63-182 0,-61 177 0,0-1 0,-1 1 0,0-1 0,-1 0 0,0-16 0,-2 15 0,2 1 0,0 0 0,0 0 0,1 1 0,6-17 0,15-22 0,-15 36 0,-1-2 0,-1 1 0,7-28 0,-6 13 9,4-24-1383,-10 40-5452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https://www.youtube.com/watch?v=6G3qm60dfA8&amp;ab_channel=PrashantThombre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https://cybersecurityglossary.com/wp-content/uploads/2019/08/host-based-firewall.jpg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54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https://www.slideshare.net/kerneltlv/netfilter-and-iptables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87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https://www.slideshare.net/kerneltlv/netfilter-and-iptables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86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https://sandilands.info/nsl/Firewallswithiptables.html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40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https://sandilands.info/nsl/Firewallswithiptables.html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33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iptables -L --line-numbers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02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sudo iptables -A INPUT -s 136.160.215.15 -j NFQUEUE --queue-num 1 </a:t>
            </a:r>
          </a:p>
          <a:p>
            <a:r>
              <a:rPr lang="en-GB" dirty="0" err="1"/>
              <a:t>sudo</a:t>
            </a:r>
            <a:r>
              <a:rPr lang="en-GB" dirty="0"/>
              <a:t> iptables -S INPUT | grep "136.160.215.15"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71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sudo iptables -D INPUT -s 136.160.215.15 -j NFQUEUE --queue-num 1</a:t>
            </a:r>
          </a:p>
          <a:p>
            <a:r>
              <a:rPr lang="en-GB" dirty="0" err="1"/>
              <a:t>sudo</a:t>
            </a:r>
            <a:r>
              <a:rPr lang="en-GB" dirty="0"/>
              <a:t> iptables -S INPUT | grep "136.160.215.15"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17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libnetfilter</a:t>
            </a:r>
            <a:r>
              <a:rPr lang="en-US" dirty="0"/>
              <a:t>-queue-dev</a:t>
            </a:r>
          </a:p>
          <a:p>
            <a:r>
              <a:rPr lang="en-US" dirty="0" err="1"/>
              <a:t>sudo</a:t>
            </a:r>
            <a:r>
              <a:rPr lang="en-US" dirty="0"/>
              <a:t> pip3 install </a:t>
            </a:r>
            <a:r>
              <a:rPr lang="en-US" dirty="0" err="1"/>
              <a:t>NetfilterQueue</a:t>
            </a:r>
            <a:endParaRPr lang="en-US" dirty="0"/>
          </a:p>
          <a:p>
            <a:r>
              <a:rPr lang="en-US" dirty="0"/>
              <a:t>or</a:t>
            </a:r>
          </a:p>
          <a:p>
            <a:r>
              <a:rPr lang="en-US" dirty="0"/>
              <a:t>apt-get install build-essential python3-dev </a:t>
            </a:r>
            <a:r>
              <a:rPr lang="en-US" dirty="0" err="1"/>
              <a:t>libnetfilter</a:t>
            </a:r>
            <a:r>
              <a:rPr lang="en-US" dirty="0"/>
              <a:t>-queue-dev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68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python3 iptables_handle_packets_drop.py 136.160.215.194</a:t>
            </a:r>
          </a:p>
          <a:p>
            <a:r>
              <a:rPr lang="en-GB" dirty="0" err="1"/>
              <a:t>sudo</a:t>
            </a:r>
            <a:r>
              <a:rPr lang="en-GB" dirty="0"/>
              <a:t> iptables -S INPUT | grep "136.160.215.194“</a:t>
            </a:r>
          </a:p>
          <a:p>
            <a:r>
              <a:rPr lang="pt-BR" dirty="0"/>
              <a:t>sudo iptables -D INPUT -s 136.160.215.194 -j NFQUEUE --queue-num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88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python3 iptables_handle_packets_drop.py 136.160.215.15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sudo</a:t>
            </a:r>
            <a:r>
              <a:rPr lang="en-GB" dirty="0"/>
              <a:t> iptables -S INPUT | grep "136.160.215.15"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38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&lt;!DOCTYPE html&gt;</a:t>
            </a:r>
          </a:p>
          <a:p>
            <a:r>
              <a:rPr lang="en-GB" dirty="0"/>
              <a:t>&lt;html&gt;</a:t>
            </a:r>
          </a:p>
          <a:p>
            <a:endParaRPr lang="en-GB" dirty="0"/>
          </a:p>
          <a:p>
            <a:r>
              <a:rPr lang="en-GB" dirty="0"/>
              <a:t>&lt;head&gt;</a:t>
            </a:r>
          </a:p>
          <a:p>
            <a:r>
              <a:rPr lang="en-GB" dirty="0"/>
              <a:t>    &lt;title&gt;Hello World&lt;/title&gt;</a:t>
            </a:r>
          </a:p>
          <a:p>
            <a:r>
              <a:rPr lang="en-GB" dirty="0"/>
              <a:t>&lt;/head&gt;</a:t>
            </a:r>
          </a:p>
          <a:p>
            <a:endParaRPr lang="en-GB" dirty="0"/>
          </a:p>
          <a:p>
            <a:r>
              <a:rPr lang="en-GB" dirty="0"/>
              <a:t>&lt;body&gt;</a:t>
            </a:r>
          </a:p>
          <a:p>
            <a:r>
              <a:rPr lang="en-GB" dirty="0"/>
              <a:t>    &lt;h1&gt;Hello World! Network Forensics. &lt;/h1&gt;</a:t>
            </a:r>
          </a:p>
          <a:p>
            <a:r>
              <a:rPr lang="en-GB" dirty="0"/>
              <a:t>    &lt;p&gt;Welcome to my simple web page.&lt;/p&gt;</a:t>
            </a:r>
          </a:p>
          <a:p>
            <a:r>
              <a:rPr lang="en-GB" dirty="0"/>
              <a:t>&lt;/body&gt;</a:t>
            </a:r>
          </a:p>
          <a:p>
            <a:endParaRPr lang="en-GB" dirty="0"/>
          </a:p>
          <a:p>
            <a:r>
              <a:rPr lang="en-GB" dirty="0"/>
              <a:t>&lt;/html&gt;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1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D4144D-7F75-E05E-C7FD-FC380FE56E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93308"/>
            <a:ext cx="12192000" cy="66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f/c/a674908a5e2e2f2a/IgCEI98TdM-nSKFpYtxXC305Ae9vw96WV9-faxESnjNgoGc?e=v0uyr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customXml" Target="../ink/ink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.xml"/><Relationship Id="rId5" Type="http://schemas.openxmlformats.org/officeDocument/2006/relationships/image" Target="../media/image33.png"/><Relationship Id="rId4" Type="http://schemas.openxmlformats.org/officeDocument/2006/relationships/customXml" Target="../ink/ink3.xml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aw.githubusercontent.com/frankwxu/digital-forensics-lab/main/Networking_Forensics/lab_files/firewall/hello.html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Firewall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sz="1600" dirty="0"/>
              <a:t>F</a:t>
            </a:r>
            <a:r>
              <a:rPr lang="en-US" sz="1600"/>
              <a:t>iles</a:t>
            </a:r>
            <a:r>
              <a:rPr lang="en-US" sz="1600" dirty="0"/>
              <a:t>: </a:t>
            </a:r>
            <a:r>
              <a:rPr lang="en-US" sz="1600" dirty="0">
                <a:hlinkClick r:id="rId3"/>
              </a:rPr>
              <a:t>firewall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ACDF-B077-A56F-3A3F-8DC7F228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481C-72BC-A03B-3B79-2C85F5BA3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656595"/>
          </a:xfrm>
        </p:spPr>
        <p:txBody>
          <a:bodyPr>
            <a:normAutofit/>
          </a:bodyPr>
          <a:lstStyle/>
          <a:p>
            <a:r>
              <a:rPr lang="en-GB" dirty="0"/>
              <a:t>A firewall is a network security device that acts as a barrier between a private network and the public internet or other networks. </a:t>
            </a:r>
          </a:p>
          <a:p>
            <a:r>
              <a:rPr lang="en-GB" dirty="0"/>
              <a:t>Its primary purpose is to monitor and control incoming and outgoing network traffic based on predetermined security rules.</a:t>
            </a:r>
          </a:p>
          <a:p>
            <a:pPr lvl="1"/>
            <a:r>
              <a:rPr lang="en-GB" dirty="0"/>
              <a:t>Intrusion detection and prevention</a:t>
            </a:r>
          </a:p>
          <a:p>
            <a:pPr lvl="1"/>
            <a:r>
              <a:rPr lang="en-GB" dirty="0"/>
              <a:t>Malware detection, and content filtering. </a:t>
            </a:r>
          </a:p>
          <a:p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74747E-DC71-1179-73E0-C447D554958C}"/>
              </a:ext>
            </a:extLst>
          </p:cNvPr>
          <p:cNvSpPr/>
          <p:nvPr/>
        </p:nvSpPr>
        <p:spPr>
          <a:xfrm>
            <a:off x="1316319" y="4566768"/>
            <a:ext cx="2043719" cy="1455501"/>
          </a:xfrm>
          <a:custGeom>
            <a:avLst/>
            <a:gdLst>
              <a:gd name="connsiteX0" fmla="*/ 306359 w 2043719"/>
              <a:gd name="connsiteY0" fmla="*/ 571581 h 1455501"/>
              <a:gd name="connsiteX1" fmla="*/ 306359 w 2043719"/>
              <a:gd name="connsiteY1" fmla="*/ 571581 h 1455501"/>
              <a:gd name="connsiteX2" fmla="*/ 245399 w 2043719"/>
              <a:gd name="connsiteY2" fmla="*/ 442041 h 1455501"/>
              <a:gd name="connsiteX3" fmla="*/ 237779 w 2043719"/>
              <a:gd name="connsiteY3" fmla="*/ 373461 h 1455501"/>
              <a:gd name="connsiteX4" fmla="*/ 253019 w 2043719"/>
              <a:gd name="connsiteY4" fmla="*/ 190581 h 1455501"/>
              <a:gd name="connsiteX5" fmla="*/ 291119 w 2043719"/>
              <a:gd name="connsiteY5" fmla="*/ 122001 h 1455501"/>
              <a:gd name="connsiteX6" fmla="*/ 405419 w 2043719"/>
              <a:gd name="connsiteY6" fmla="*/ 7701 h 1455501"/>
              <a:gd name="connsiteX7" fmla="*/ 466379 w 2043719"/>
              <a:gd name="connsiteY7" fmla="*/ 81 h 1455501"/>
              <a:gd name="connsiteX8" fmla="*/ 641639 w 2043719"/>
              <a:gd name="connsiteY8" fmla="*/ 15321 h 1455501"/>
              <a:gd name="connsiteX9" fmla="*/ 687359 w 2043719"/>
              <a:gd name="connsiteY9" fmla="*/ 38181 h 1455501"/>
              <a:gd name="connsiteX10" fmla="*/ 710219 w 2043719"/>
              <a:gd name="connsiteY10" fmla="*/ 61041 h 1455501"/>
              <a:gd name="connsiteX11" fmla="*/ 717839 w 2043719"/>
              <a:gd name="connsiteY11" fmla="*/ 83901 h 1455501"/>
              <a:gd name="connsiteX12" fmla="*/ 862619 w 2043719"/>
              <a:gd name="connsiteY12" fmla="*/ 76281 h 1455501"/>
              <a:gd name="connsiteX13" fmla="*/ 1152179 w 2043719"/>
              <a:gd name="connsiteY13" fmla="*/ 61041 h 1455501"/>
              <a:gd name="connsiteX14" fmla="*/ 1258859 w 2043719"/>
              <a:gd name="connsiteY14" fmla="*/ 68661 h 1455501"/>
              <a:gd name="connsiteX15" fmla="*/ 1335059 w 2043719"/>
              <a:gd name="connsiteY15" fmla="*/ 243921 h 1455501"/>
              <a:gd name="connsiteX16" fmla="*/ 1319819 w 2043719"/>
              <a:gd name="connsiteY16" fmla="*/ 327741 h 1455501"/>
              <a:gd name="connsiteX17" fmla="*/ 1342679 w 2043719"/>
              <a:gd name="connsiteY17" fmla="*/ 236301 h 1455501"/>
              <a:gd name="connsiteX18" fmla="*/ 1426499 w 2043719"/>
              <a:gd name="connsiteY18" fmla="*/ 198201 h 1455501"/>
              <a:gd name="connsiteX19" fmla="*/ 1738919 w 2043719"/>
              <a:gd name="connsiteY19" fmla="*/ 122001 h 1455501"/>
              <a:gd name="connsiteX20" fmla="*/ 1990379 w 2043719"/>
              <a:gd name="connsiteY20" fmla="*/ 182961 h 1455501"/>
              <a:gd name="connsiteX21" fmla="*/ 2020859 w 2043719"/>
              <a:gd name="connsiteY21" fmla="*/ 228681 h 1455501"/>
              <a:gd name="connsiteX22" fmla="*/ 2043719 w 2043719"/>
              <a:gd name="connsiteY22" fmla="*/ 297261 h 1455501"/>
              <a:gd name="connsiteX23" fmla="*/ 1990379 w 2043719"/>
              <a:gd name="connsiteY23" fmla="*/ 472521 h 1455501"/>
              <a:gd name="connsiteX24" fmla="*/ 1944659 w 2043719"/>
              <a:gd name="connsiteY24" fmla="*/ 548721 h 1455501"/>
              <a:gd name="connsiteX25" fmla="*/ 1853219 w 2043719"/>
              <a:gd name="connsiteY25" fmla="*/ 609681 h 1455501"/>
              <a:gd name="connsiteX26" fmla="*/ 1693199 w 2043719"/>
              <a:gd name="connsiteY26" fmla="*/ 670641 h 1455501"/>
              <a:gd name="connsiteX27" fmla="*/ 1746539 w 2043719"/>
              <a:gd name="connsiteY27" fmla="*/ 762081 h 1455501"/>
              <a:gd name="connsiteX28" fmla="*/ 1738919 w 2043719"/>
              <a:gd name="connsiteY28" fmla="*/ 838281 h 1455501"/>
              <a:gd name="connsiteX29" fmla="*/ 1655099 w 2043719"/>
              <a:gd name="connsiteY29" fmla="*/ 952581 h 1455501"/>
              <a:gd name="connsiteX30" fmla="*/ 1487459 w 2043719"/>
              <a:gd name="connsiteY30" fmla="*/ 1135461 h 1455501"/>
              <a:gd name="connsiteX31" fmla="*/ 1434119 w 2043719"/>
              <a:gd name="connsiteY31" fmla="*/ 1150701 h 1455501"/>
              <a:gd name="connsiteX32" fmla="*/ 1274099 w 2043719"/>
              <a:gd name="connsiteY32" fmla="*/ 1127841 h 1455501"/>
              <a:gd name="connsiteX33" fmla="*/ 1228379 w 2043719"/>
              <a:gd name="connsiteY33" fmla="*/ 1165941 h 1455501"/>
              <a:gd name="connsiteX34" fmla="*/ 1159799 w 2043719"/>
              <a:gd name="connsiteY34" fmla="*/ 1280241 h 1455501"/>
              <a:gd name="connsiteX35" fmla="*/ 1098839 w 2043719"/>
              <a:gd name="connsiteY35" fmla="*/ 1386921 h 1455501"/>
              <a:gd name="connsiteX36" fmla="*/ 1037879 w 2043719"/>
              <a:gd name="connsiteY36" fmla="*/ 1440261 h 1455501"/>
              <a:gd name="connsiteX37" fmla="*/ 954059 w 2043719"/>
              <a:gd name="connsiteY37" fmla="*/ 1447881 h 1455501"/>
              <a:gd name="connsiteX38" fmla="*/ 847379 w 2043719"/>
              <a:gd name="connsiteY38" fmla="*/ 1455501 h 1455501"/>
              <a:gd name="connsiteX39" fmla="*/ 717839 w 2043719"/>
              <a:gd name="connsiteY39" fmla="*/ 1379301 h 1455501"/>
              <a:gd name="connsiteX40" fmla="*/ 702599 w 2043719"/>
              <a:gd name="connsiteY40" fmla="*/ 1341201 h 1455501"/>
              <a:gd name="connsiteX41" fmla="*/ 687359 w 2043719"/>
              <a:gd name="connsiteY41" fmla="*/ 1211661 h 1455501"/>
              <a:gd name="connsiteX42" fmla="*/ 694979 w 2043719"/>
              <a:gd name="connsiteY42" fmla="*/ 1135461 h 1455501"/>
              <a:gd name="connsiteX43" fmla="*/ 649259 w 2043719"/>
              <a:gd name="connsiteY43" fmla="*/ 1150701 h 1455501"/>
              <a:gd name="connsiteX44" fmla="*/ 550199 w 2043719"/>
              <a:gd name="connsiteY44" fmla="*/ 1204041 h 1455501"/>
              <a:gd name="connsiteX45" fmla="*/ 275879 w 2043719"/>
              <a:gd name="connsiteY45" fmla="*/ 1234521 h 1455501"/>
              <a:gd name="connsiteX46" fmla="*/ 115859 w 2043719"/>
              <a:gd name="connsiteY46" fmla="*/ 1204041 h 1455501"/>
              <a:gd name="connsiteX47" fmla="*/ 24419 w 2043719"/>
              <a:gd name="connsiteY47" fmla="*/ 1074501 h 1455501"/>
              <a:gd name="connsiteX48" fmla="*/ 39659 w 2043719"/>
              <a:gd name="connsiteY48" fmla="*/ 807801 h 1455501"/>
              <a:gd name="connsiteX49" fmla="*/ 100619 w 2043719"/>
              <a:gd name="connsiteY49" fmla="*/ 769701 h 1455501"/>
              <a:gd name="connsiteX50" fmla="*/ 131099 w 2043719"/>
              <a:gd name="connsiteY50" fmla="*/ 762081 h 1455501"/>
              <a:gd name="connsiteX51" fmla="*/ 153959 w 2043719"/>
              <a:gd name="connsiteY51" fmla="*/ 754461 h 1455501"/>
              <a:gd name="connsiteX52" fmla="*/ 169199 w 2043719"/>
              <a:gd name="connsiteY52" fmla="*/ 731601 h 1455501"/>
              <a:gd name="connsiteX53" fmla="*/ 199679 w 2043719"/>
              <a:gd name="connsiteY53" fmla="*/ 708741 h 1455501"/>
              <a:gd name="connsiteX54" fmla="*/ 222539 w 2043719"/>
              <a:gd name="connsiteY54" fmla="*/ 693501 h 1455501"/>
              <a:gd name="connsiteX55" fmla="*/ 245399 w 2043719"/>
              <a:gd name="connsiteY55" fmla="*/ 663021 h 1455501"/>
              <a:gd name="connsiteX56" fmla="*/ 306359 w 2043719"/>
              <a:gd name="connsiteY56" fmla="*/ 571581 h 1455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043719" h="1455501">
                <a:moveTo>
                  <a:pt x="306359" y="571581"/>
                </a:moveTo>
                <a:lnTo>
                  <a:pt x="306359" y="571581"/>
                </a:lnTo>
                <a:cubicBezTo>
                  <a:pt x="284609" y="531706"/>
                  <a:pt x="254722" y="488654"/>
                  <a:pt x="245399" y="442041"/>
                </a:cubicBezTo>
                <a:cubicBezTo>
                  <a:pt x="240888" y="419487"/>
                  <a:pt x="240319" y="396321"/>
                  <a:pt x="237779" y="373461"/>
                </a:cubicBezTo>
                <a:cubicBezTo>
                  <a:pt x="242859" y="312501"/>
                  <a:pt x="240326" y="250421"/>
                  <a:pt x="253019" y="190581"/>
                </a:cubicBezTo>
                <a:cubicBezTo>
                  <a:pt x="258445" y="164999"/>
                  <a:pt x="276912" y="143957"/>
                  <a:pt x="291119" y="122001"/>
                </a:cubicBezTo>
                <a:cubicBezTo>
                  <a:pt x="319548" y="78066"/>
                  <a:pt x="356316" y="30808"/>
                  <a:pt x="405419" y="7701"/>
                </a:cubicBezTo>
                <a:cubicBezTo>
                  <a:pt x="423948" y="-1019"/>
                  <a:pt x="446059" y="2621"/>
                  <a:pt x="466379" y="81"/>
                </a:cubicBezTo>
                <a:cubicBezTo>
                  <a:pt x="467458" y="138"/>
                  <a:pt x="597682" y="-2262"/>
                  <a:pt x="641639" y="15321"/>
                </a:cubicBezTo>
                <a:cubicBezTo>
                  <a:pt x="657459" y="21649"/>
                  <a:pt x="673182" y="28730"/>
                  <a:pt x="687359" y="38181"/>
                </a:cubicBezTo>
                <a:cubicBezTo>
                  <a:pt x="696325" y="44159"/>
                  <a:pt x="702599" y="53421"/>
                  <a:pt x="710219" y="61041"/>
                </a:cubicBezTo>
                <a:cubicBezTo>
                  <a:pt x="712759" y="68661"/>
                  <a:pt x="714247" y="76717"/>
                  <a:pt x="717839" y="83901"/>
                </a:cubicBezTo>
                <a:cubicBezTo>
                  <a:pt x="760911" y="170044"/>
                  <a:pt x="733042" y="95478"/>
                  <a:pt x="862619" y="76281"/>
                </a:cubicBezTo>
                <a:cubicBezTo>
                  <a:pt x="958229" y="62117"/>
                  <a:pt x="1152179" y="61041"/>
                  <a:pt x="1152179" y="61041"/>
                </a:cubicBezTo>
                <a:cubicBezTo>
                  <a:pt x="1187739" y="63581"/>
                  <a:pt x="1228006" y="50799"/>
                  <a:pt x="1258859" y="68661"/>
                </a:cubicBezTo>
                <a:cubicBezTo>
                  <a:pt x="1274867" y="77929"/>
                  <a:pt x="1333997" y="241160"/>
                  <a:pt x="1335059" y="243921"/>
                </a:cubicBezTo>
                <a:cubicBezTo>
                  <a:pt x="1329979" y="271861"/>
                  <a:pt x="1327621" y="300436"/>
                  <a:pt x="1319819" y="327741"/>
                </a:cubicBezTo>
                <a:cubicBezTo>
                  <a:pt x="1308379" y="367780"/>
                  <a:pt x="1187325" y="430493"/>
                  <a:pt x="1342679" y="236301"/>
                </a:cubicBezTo>
                <a:cubicBezTo>
                  <a:pt x="1361851" y="212335"/>
                  <a:pt x="1397010" y="206707"/>
                  <a:pt x="1426499" y="198201"/>
                </a:cubicBezTo>
                <a:cubicBezTo>
                  <a:pt x="1529492" y="168491"/>
                  <a:pt x="1738919" y="122001"/>
                  <a:pt x="1738919" y="122001"/>
                </a:cubicBezTo>
                <a:cubicBezTo>
                  <a:pt x="1853171" y="135184"/>
                  <a:pt x="1917643" y="110225"/>
                  <a:pt x="1990379" y="182961"/>
                </a:cubicBezTo>
                <a:cubicBezTo>
                  <a:pt x="2003331" y="195913"/>
                  <a:pt x="2013113" y="212083"/>
                  <a:pt x="2020859" y="228681"/>
                </a:cubicBezTo>
                <a:cubicBezTo>
                  <a:pt x="2031049" y="250517"/>
                  <a:pt x="2036099" y="274401"/>
                  <a:pt x="2043719" y="297261"/>
                </a:cubicBezTo>
                <a:cubicBezTo>
                  <a:pt x="2025939" y="355681"/>
                  <a:pt x="2012761" y="415705"/>
                  <a:pt x="1990379" y="472521"/>
                </a:cubicBezTo>
                <a:cubicBezTo>
                  <a:pt x="1979522" y="500081"/>
                  <a:pt x="1965604" y="527776"/>
                  <a:pt x="1944659" y="548721"/>
                </a:cubicBezTo>
                <a:cubicBezTo>
                  <a:pt x="1918756" y="574624"/>
                  <a:pt x="1885984" y="593298"/>
                  <a:pt x="1853219" y="609681"/>
                </a:cubicBezTo>
                <a:cubicBezTo>
                  <a:pt x="1805004" y="633789"/>
                  <a:pt x="1746808" y="652771"/>
                  <a:pt x="1693199" y="670641"/>
                </a:cubicBezTo>
                <a:cubicBezTo>
                  <a:pt x="1729359" y="742960"/>
                  <a:pt x="1710048" y="713426"/>
                  <a:pt x="1746539" y="762081"/>
                </a:cubicBezTo>
                <a:cubicBezTo>
                  <a:pt x="1743999" y="787481"/>
                  <a:pt x="1746991" y="814064"/>
                  <a:pt x="1738919" y="838281"/>
                </a:cubicBezTo>
                <a:cubicBezTo>
                  <a:pt x="1723250" y="885287"/>
                  <a:pt x="1682363" y="914091"/>
                  <a:pt x="1655099" y="952581"/>
                </a:cubicBezTo>
                <a:cubicBezTo>
                  <a:pt x="1567906" y="1075677"/>
                  <a:pt x="1605256" y="1076562"/>
                  <a:pt x="1487459" y="1135461"/>
                </a:cubicBezTo>
                <a:cubicBezTo>
                  <a:pt x="1470920" y="1143731"/>
                  <a:pt x="1451899" y="1145621"/>
                  <a:pt x="1434119" y="1150701"/>
                </a:cubicBezTo>
                <a:cubicBezTo>
                  <a:pt x="1380779" y="1143081"/>
                  <a:pt x="1327833" y="1123861"/>
                  <a:pt x="1274099" y="1127841"/>
                </a:cubicBezTo>
                <a:cubicBezTo>
                  <a:pt x="1254315" y="1129306"/>
                  <a:pt x="1240282" y="1150071"/>
                  <a:pt x="1228379" y="1165941"/>
                </a:cubicBezTo>
                <a:cubicBezTo>
                  <a:pt x="1201720" y="1201486"/>
                  <a:pt x="1178185" y="1239792"/>
                  <a:pt x="1159799" y="1280241"/>
                </a:cubicBezTo>
                <a:cubicBezTo>
                  <a:pt x="1126177" y="1354209"/>
                  <a:pt x="1140263" y="1349263"/>
                  <a:pt x="1098839" y="1386921"/>
                </a:cubicBezTo>
                <a:cubicBezTo>
                  <a:pt x="1078860" y="1405084"/>
                  <a:pt x="1062764" y="1429783"/>
                  <a:pt x="1037879" y="1440261"/>
                </a:cubicBezTo>
                <a:cubicBezTo>
                  <a:pt x="1012022" y="1451148"/>
                  <a:pt x="982025" y="1445644"/>
                  <a:pt x="954059" y="1447881"/>
                </a:cubicBezTo>
                <a:lnTo>
                  <a:pt x="847379" y="1455501"/>
                </a:lnTo>
                <a:cubicBezTo>
                  <a:pt x="787878" y="1431700"/>
                  <a:pt x="759043" y="1429662"/>
                  <a:pt x="717839" y="1379301"/>
                </a:cubicBezTo>
                <a:cubicBezTo>
                  <a:pt x="709177" y="1368715"/>
                  <a:pt x="707679" y="1353901"/>
                  <a:pt x="702599" y="1341201"/>
                </a:cubicBezTo>
                <a:cubicBezTo>
                  <a:pt x="697988" y="1308923"/>
                  <a:pt x="687359" y="1239882"/>
                  <a:pt x="687359" y="1211661"/>
                </a:cubicBezTo>
                <a:cubicBezTo>
                  <a:pt x="687359" y="1186134"/>
                  <a:pt x="708508" y="1157108"/>
                  <a:pt x="694979" y="1135461"/>
                </a:cubicBezTo>
                <a:cubicBezTo>
                  <a:pt x="686465" y="1121838"/>
                  <a:pt x="663939" y="1144177"/>
                  <a:pt x="649259" y="1150701"/>
                </a:cubicBezTo>
                <a:cubicBezTo>
                  <a:pt x="559120" y="1190763"/>
                  <a:pt x="769944" y="1133723"/>
                  <a:pt x="550199" y="1204041"/>
                </a:cubicBezTo>
                <a:cubicBezTo>
                  <a:pt x="456961" y="1233877"/>
                  <a:pt x="373796" y="1229858"/>
                  <a:pt x="275879" y="1234521"/>
                </a:cubicBezTo>
                <a:cubicBezTo>
                  <a:pt x="222539" y="1224361"/>
                  <a:pt x="167171" y="1221803"/>
                  <a:pt x="115859" y="1204041"/>
                </a:cubicBezTo>
                <a:cubicBezTo>
                  <a:pt x="82941" y="1192646"/>
                  <a:pt x="27607" y="1079966"/>
                  <a:pt x="24419" y="1074501"/>
                </a:cubicBezTo>
                <a:cubicBezTo>
                  <a:pt x="11103" y="967975"/>
                  <a:pt x="-30533" y="894191"/>
                  <a:pt x="39659" y="807801"/>
                </a:cubicBezTo>
                <a:cubicBezTo>
                  <a:pt x="54769" y="789204"/>
                  <a:pt x="79186" y="780417"/>
                  <a:pt x="100619" y="769701"/>
                </a:cubicBezTo>
                <a:cubicBezTo>
                  <a:pt x="109986" y="765017"/>
                  <a:pt x="121029" y="764958"/>
                  <a:pt x="131099" y="762081"/>
                </a:cubicBezTo>
                <a:cubicBezTo>
                  <a:pt x="138822" y="759874"/>
                  <a:pt x="146339" y="757001"/>
                  <a:pt x="153959" y="754461"/>
                </a:cubicBezTo>
                <a:cubicBezTo>
                  <a:pt x="159039" y="746841"/>
                  <a:pt x="162723" y="738077"/>
                  <a:pt x="169199" y="731601"/>
                </a:cubicBezTo>
                <a:cubicBezTo>
                  <a:pt x="178179" y="722621"/>
                  <a:pt x="189345" y="716123"/>
                  <a:pt x="199679" y="708741"/>
                </a:cubicBezTo>
                <a:cubicBezTo>
                  <a:pt x="207131" y="703418"/>
                  <a:pt x="216063" y="699977"/>
                  <a:pt x="222539" y="693501"/>
                </a:cubicBezTo>
                <a:cubicBezTo>
                  <a:pt x="231519" y="684521"/>
                  <a:pt x="237036" y="672579"/>
                  <a:pt x="245399" y="663021"/>
                </a:cubicBezTo>
                <a:cubicBezTo>
                  <a:pt x="314454" y="584100"/>
                  <a:pt x="296199" y="586821"/>
                  <a:pt x="306359" y="571581"/>
                </a:cubicBezTo>
                <a:close/>
              </a:path>
            </a:pathLst>
          </a:cu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ICDFA Academy</a:t>
            </a:r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DA3D91F-B713-DAA2-1762-E36D9AB1286B}"/>
              </a:ext>
            </a:extLst>
          </p:cNvPr>
          <p:cNvSpPr/>
          <p:nvPr/>
        </p:nvSpPr>
        <p:spPr>
          <a:xfrm>
            <a:off x="8751389" y="4373099"/>
            <a:ext cx="1458590" cy="1616584"/>
          </a:xfrm>
          <a:custGeom>
            <a:avLst/>
            <a:gdLst>
              <a:gd name="connsiteX0" fmla="*/ 594637 w 1984647"/>
              <a:gd name="connsiteY0" fmla="*/ 919466 h 1993886"/>
              <a:gd name="connsiteX1" fmla="*/ 594637 w 1984647"/>
              <a:gd name="connsiteY1" fmla="*/ 919466 h 1993886"/>
              <a:gd name="connsiteX2" fmla="*/ 564157 w 1984647"/>
              <a:gd name="connsiteY2" fmla="*/ 736586 h 1993886"/>
              <a:gd name="connsiteX3" fmla="*/ 518437 w 1984647"/>
              <a:gd name="connsiteY3" fmla="*/ 568946 h 1993886"/>
              <a:gd name="connsiteX4" fmla="*/ 526057 w 1984647"/>
              <a:gd name="connsiteY4" fmla="*/ 241286 h 1993886"/>
              <a:gd name="connsiteX5" fmla="*/ 640357 w 1984647"/>
              <a:gd name="connsiteY5" fmla="*/ 66026 h 1993886"/>
              <a:gd name="connsiteX6" fmla="*/ 686077 w 1984647"/>
              <a:gd name="connsiteY6" fmla="*/ 58406 h 1993886"/>
              <a:gd name="connsiteX7" fmla="*/ 914677 w 1984647"/>
              <a:gd name="connsiteY7" fmla="*/ 81266 h 1993886"/>
              <a:gd name="connsiteX8" fmla="*/ 952777 w 1984647"/>
              <a:gd name="connsiteY8" fmla="*/ 119366 h 1993886"/>
              <a:gd name="connsiteX9" fmla="*/ 983257 w 1984647"/>
              <a:gd name="connsiteY9" fmla="*/ 210806 h 1993886"/>
              <a:gd name="connsiteX10" fmla="*/ 1272817 w 1984647"/>
              <a:gd name="connsiteY10" fmla="*/ 12686 h 1993886"/>
              <a:gd name="connsiteX11" fmla="*/ 1387117 w 1984647"/>
              <a:gd name="connsiteY11" fmla="*/ 5066 h 1993886"/>
              <a:gd name="connsiteX12" fmla="*/ 1585237 w 1984647"/>
              <a:gd name="connsiteY12" fmla="*/ 35546 h 1993886"/>
              <a:gd name="connsiteX13" fmla="*/ 1623337 w 1984647"/>
              <a:gd name="connsiteY13" fmla="*/ 111746 h 1993886"/>
              <a:gd name="connsiteX14" fmla="*/ 1615717 w 1984647"/>
              <a:gd name="connsiteY14" fmla="*/ 271766 h 1993886"/>
              <a:gd name="connsiteX15" fmla="*/ 1569997 w 1984647"/>
              <a:gd name="connsiteY15" fmla="*/ 340346 h 1993886"/>
              <a:gd name="connsiteX16" fmla="*/ 1562377 w 1984647"/>
              <a:gd name="connsiteY16" fmla="*/ 363206 h 1993886"/>
              <a:gd name="connsiteX17" fmla="*/ 1615717 w 1984647"/>
              <a:gd name="connsiteY17" fmla="*/ 424166 h 1993886"/>
              <a:gd name="connsiteX18" fmla="*/ 1760497 w 1984647"/>
              <a:gd name="connsiteY18" fmla="*/ 515606 h 1993886"/>
              <a:gd name="connsiteX19" fmla="*/ 1928137 w 1984647"/>
              <a:gd name="connsiteY19" fmla="*/ 866126 h 1993886"/>
              <a:gd name="connsiteX20" fmla="*/ 1973857 w 1984647"/>
              <a:gd name="connsiteY20" fmla="*/ 1041386 h 1993886"/>
              <a:gd name="connsiteX21" fmla="*/ 1981477 w 1984647"/>
              <a:gd name="connsiteY21" fmla="*/ 1148066 h 1993886"/>
              <a:gd name="connsiteX22" fmla="*/ 1768117 w 1984647"/>
              <a:gd name="connsiteY22" fmla="*/ 1323326 h 1993886"/>
              <a:gd name="connsiteX23" fmla="*/ 1638577 w 1984647"/>
              <a:gd name="connsiteY23" fmla="*/ 1330946 h 1993886"/>
              <a:gd name="connsiteX24" fmla="*/ 1623337 w 1984647"/>
              <a:gd name="connsiteY24" fmla="*/ 1391906 h 1993886"/>
              <a:gd name="connsiteX25" fmla="*/ 1661437 w 1984647"/>
              <a:gd name="connsiteY25" fmla="*/ 1559546 h 1993886"/>
              <a:gd name="connsiteX26" fmla="*/ 1547137 w 1984647"/>
              <a:gd name="connsiteY26" fmla="*/ 1750046 h 1993886"/>
              <a:gd name="connsiteX27" fmla="*/ 1425217 w 1984647"/>
              <a:gd name="connsiteY27" fmla="*/ 1833866 h 1993886"/>
              <a:gd name="connsiteX28" fmla="*/ 1227097 w 1984647"/>
              <a:gd name="connsiteY28" fmla="*/ 1978646 h 1993886"/>
              <a:gd name="connsiteX29" fmla="*/ 1143277 w 1984647"/>
              <a:gd name="connsiteY29" fmla="*/ 1993886 h 1993886"/>
              <a:gd name="connsiteX30" fmla="*/ 983257 w 1984647"/>
              <a:gd name="connsiteY30" fmla="*/ 1963406 h 1993886"/>
              <a:gd name="connsiteX31" fmla="*/ 929917 w 1984647"/>
              <a:gd name="connsiteY31" fmla="*/ 1925306 h 1993886"/>
              <a:gd name="connsiteX32" fmla="*/ 838477 w 1984647"/>
              <a:gd name="connsiteY32" fmla="*/ 1711946 h 1993886"/>
              <a:gd name="connsiteX33" fmla="*/ 800377 w 1984647"/>
              <a:gd name="connsiteY33" fmla="*/ 1742426 h 1993886"/>
              <a:gd name="connsiteX34" fmla="*/ 434617 w 1984647"/>
              <a:gd name="connsiteY34" fmla="*/ 1757666 h 1993886"/>
              <a:gd name="connsiteX35" fmla="*/ 175537 w 1984647"/>
              <a:gd name="connsiteY35" fmla="*/ 1727186 h 1993886"/>
              <a:gd name="connsiteX36" fmla="*/ 145057 w 1984647"/>
              <a:gd name="connsiteY36" fmla="*/ 1711946 h 1993886"/>
              <a:gd name="connsiteX37" fmla="*/ 76477 w 1984647"/>
              <a:gd name="connsiteY37" fmla="*/ 1605266 h 1993886"/>
              <a:gd name="connsiteX38" fmla="*/ 15517 w 1984647"/>
              <a:gd name="connsiteY38" fmla="*/ 1445246 h 1993886"/>
              <a:gd name="connsiteX39" fmla="*/ 277 w 1984647"/>
              <a:gd name="connsiteY39" fmla="*/ 1315706 h 1993886"/>
              <a:gd name="connsiteX40" fmla="*/ 30757 w 1984647"/>
              <a:gd name="connsiteY40" fmla="*/ 1155686 h 1993886"/>
              <a:gd name="connsiteX41" fmla="*/ 76477 w 1984647"/>
              <a:gd name="connsiteY41" fmla="*/ 1079486 h 1993886"/>
              <a:gd name="connsiteX42" fmla="*/ 145057 w 1984647"/>
              <a:gd name="connsiteY42" fmla="*/ 1003286 h 1993886"/>
              <a:gd name="connsiteX43" fmla="*/ 282217 w 1984647"/>
              <a:gd name="connsiteY43" fmla="*/ 904226 h 1993886"/>
              <a:gd name="connsiteX44" fmla="*/ 320317 w 1984647"/>
              <a:gd name="connsiteY44" fmla="*/ 896606 h 1993886"/>
              <a:gd name="connsiteX45" fmla="*/ 381277 w 1984647"/>
              <a:gd name="connsiteY45" fmla="*/ 873746 h 1993886"/>
              <a:gd name="connsiteX46" fmla="*/ 434617 w 1984647"/>
              <a:gd name="connsiteY46" fmla="*/ 881366 h 1993886"/>
              <a:gd name="connsiteX47" fmla="*/ 465097 w 1984647"/>
              <a:gd name="connsiteY47" fmla="*/ 888986 h 1993886"/>
              <a:gd name="connsiteX48" fmla="*/ 533677 w 1984647"/>
              <a:gd name="connsiteY48" fmla="*/ 896606 h 1993886"/>
              <a:gd name="connsiteX49" fmla="*/ 594637 w 1984647"/>
              <a:gd name="connsiteY49" fmla="*/ 919466 h 199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984647" h="1993886">
                <a:moveTo>
                  <a:pt x="594637" y="919466"/>
                </a:moveTo>
                <a:lnTo>
                  <a:pt x="594637" y="919466"/>
                </a:lnTo>
                <a:cubicBezTo>
                  <a:pt x="584477" y="858506"/>
                  <a:pt x="577285" y="796976"/>
                  <a:pt x="564157" y="736586"/>
                </a:cubicBezTo>
                <a:cubicBezTo>
                  <a:pt x="551853" y="679987"/>
                  <a:pt x="522879" y="626696"/>
                  <a:pt x="518437" y="568946"/>
                </a:cubicBezTo>
                <a:cubicBezTo>
                  <a:pt x="510058" y="460018"/>
                  <a:pt x="512740" y="349721"/>
                  <a:pt x="526057" y="241286"/>
                </a:cubicBezTo>
                <a:cubicBezTo>
                  <a:pt x="533970" y="176855"/>
                  <a:pt x="586655" y="101827"/>
                  <a:pt x="640357" y="66026"/>
                </a:cubicBezTo>
                <a:cubicBezTo>
                  <a:pt x="653212" y="57456"/>
                  <a:pt x="670837" y="60946"/>
                  <a:pt x="686077" y="58406"/>
                </a:cubicBezTo>
                <a:cubicBezTo>
                  <a:pt x="762277" y="66026"/>
                  <a:pt x="840022" y="64202"/>
                  <a:pt x="914677" y="81266"/>
                </a:cubicBezTo>
                <a:cubicBezTo>
                  <a:pt x="932186" y="85268"/>
                  <a:pt x="942477" y="104652"/>
                  <a:pt x="952777" y="119366"/>
                </a:cubicBezTo>
                <a:cubicBezTo>
                  <a:pt x="963450" y="134613"/>
                  <a:pt x="979718" y="198419"/>
                  <a:pt x="983257" y="210806"/>
                </a:cubicBezTo>
                <a:cubicBezTo>
                  <a:pt x="1086148" y="107915"/>
                  <a:pt x="1099483" y="81213"/>
                  <a:pt x="1272817" y="12686"/>
                </a:cubicBezTo>
                <a:cubicBezTo>
                  <a:pt x="1308327" y="-1353"/>
                  <a:pt x="1349017" y="7606"/>
                  <a:pt x="1387117" y="5066"/>
                </a:cubicBezTo>
                <a:cubicBezTo>
                  <a:pt x="1402963" y="5786"/>
                  <a:pt x="1547350" y="-19179"/>
                  <a:pt x="1585237" y="35546"/>
                </a:cubicBezTo>
                <a:cubicBezTo>
                  <a:pt x="1601401" y="58895"/>
                  <a:pt x="1610637" y="86346"/>
                  <a:pt x="1623337" y="111746"/>
                </a:cubicBezTo>
                <a:cubicBezTo>
                  <a:pt x="1629510" y="173474"/>
                  <a:pt x="1640277" y="210366"/>
                  <a:pt x="1615717" y="271766"/>
                </a:cubicBezTo>
                <a:cubicBezTo>
                  <a:pt x="1605513" y="297275"/>
                  <a:pt x="1583841" y="316614"/>
                  <a:pt x="1569997" y="340346"/>
                </a:cubicBezTo>
                <a:cubicBezTo>
                  <a:pt x="1565950" y="347284"/>
                  <a:pt x="1564917" y="355586"/>
                  <a:pt x="1562377" y="363206"/>
                </a:cubicBezTo>
                <a:cubicBezTo>
                  <a:pt x="1580157" y="383526"/>
                  <a:pt x="1594316" y="407703"/>
                  <a:pt x="1615717" y="424166"/>
                </a:cubicBezTo>
                <a:cubicBezTo>
                  <a:pt x="1660960" y="458968"/>
                  <a:pt x="1721305" y="474109"/>
                  <a:pt x="1760497" y="515606"/>
                </a:cubicBezTo>
                <a:cubicBezTo>
                  <a:pt x="1860915" y="621931"/>
                  <a:pt x="1889677" y="732995"/>
                  <a:pt x="1928137" y="866126"/>
                </a:cubicBezTo>
                <a:cubicBezTo>
                  <a:pt x="1944893" y="924129"/>
                  <a:pt x="1958617" y="982966"/>
                  <a:pt x="1973857" y="1041386"/>
                </a:cubicBezTo>
                <a:cubicBezTo>
                  <a:pt x="1976397" y="1076946"/>
                  <a:pt x="1990958" y="1113699"/>
                  <a:pt x="1981477" y="1148066"/>
                </a:cubicBezTo>
                <a:cubicBezTo>
                  <a:pt x="1949369" y="1264457"/>
                  <a:pt x="1879114" y="1295577"/>
                  <a:pt x="1768117" y="1323326"/>
                </a:cubicBezTo>
                <a:cubicBezTo>
                  <a:pt x="1726154" y="1333817"/>
                  <a:pt x="1681757" y="1328406"/>
                  <a:pt x="1638577" y="1330946"/>
                </a:cubicBezTo>
                <a:cubicBezTo>
                  <a:pt x="1633497" y="1351266"/>
                  <a:pt x="1622386" y="1370982"/>
                  <a:pt x="1623337" y="1391906"/>
                </a:cubicBezTo>
                <a:cubicBezTo>
                  <a:pt x="1624346" y="1414109"/>
                  <a:pt x="1652489" y="1523754"/>
                  <a:pt x="1661437" y="1559546"/>
                </a:cubicBezTo>
                <a:cubicBezTo>
                  <a:pt x="1628503" y="1641880"/>
                  <a:pt x="1621067" y="1678854"/>
                  <a:pt x="1547137" y="1750046"/>
                </a:cubicBezTo>
                <a:cubicBezTo>
                  <a:pt x="1511612" y="1784255"/>
                  <a:pt x="1464508" y="1804059"/>
                  <a:pt x="1425217" y="1833866"/>
                </a:cubicBezTo>
                <a:cubicBezTo>
                  <a:pt x="1351731" y="1889614"/>
                  <a:pt x="1313542" y="1942627"/>
                  <a:pt x="1227097" y="1978646"/>
                </a:cubicBezTo>
                <a:cubicBezTo>
                  <a:pt x="1200883" y="1989568"/>
                  <a:pt x="1171217" y="1988806"/>
                  <a:pt x="1143277" y="1993886"/>
                </a:cubicBezTo>
                <a:cubicBezTo>
                  <a:pt x="1089937" y="1983726"/>
                  <a:pt x="1034951" y="1980022"/>
                  <a:pt x="983257" y="1963406"/>
                </a:cubicBezTo>
                <a:cubicBezTo>
                  <a:pt x="962455" y="1956720"/>
                  <a:pt x="943807" y="1942173"/>
                  <a:pt x="929917" y="1925306"/>
                </a:cubicBezTo>
                <a:cubicBezTo>
                  <a:pt x="879481" y="1864062"/>
                  <a:pt x="857240" y="1786998"/>
                  <a:pt x="838477" y="1711946"/>
                </a:cubicBezTo>
                <a:cubicBezTo>
                  <a:pt x="825777" y="1722106"/>
                  <a:pt x="815638" y="1736803"/>
                  <a:pt x="800377" y="1742426"/>
                </a:cubicBezTo>
                <a:cubicBezTo>
                  <a:pt x="683280" y="1785567"/>
                  <a:pt x="554099" y="1761180"/>
                  <a:pt x="434617" y="1757666"/>
                </a:cubicBezTo>
                <a:cubicBezTo>
                  <a:pt x="348257" y="1747506"/>
                  <a:pt x="261429" y="1740748"/>
                  <a:pt x="175537" y="1727186"/>
                </a:cubicBezTo>
                <a:cubicBezTo>
                  <a:pt x="164317" y="1725414"/>
                  <a:pt x="152220" y="1720762"/>
                  <a:pt x="145057" y="1711946"/>
                </a:cubicBezTo>
                <a:cubicBezTo>
                  <a:pt x="118399" y="1679137"/>
                  <a:pt x="94947" y="1643292"/>
                  <a:pt x="76477" y="1605266"/>
                </a:cubicBezTo>
                <a:cubicBezTo>
                  <a:pt x="51539" y="1553923"/>
                  <a:pt x="35837" y="1498586"/>
                  <a:pt x="15517" y="1445246"/>
                </a:cubicBezTo>
                <a:cubicBezTo>
                  <a:pt x="10437" y="1402066"/>
                  <a:pt x="-2008" y="1359124"/>
                  <a:pt x="277" y="1315706"/>
                </a:cubicBezTo>
                <a:cubicBezTo>
                  <a:pt x="3131" y="1261482"/>
                  <a:pt x="14087" y="1207363"/>
                  <a:pt x="30757" y="1155686"/>
                </a:cubicBezTo>
                <a:cubicBezTo>
                  <a:pt x="39851" y="1127495"/>
                  <a:pt x="58704" y="1103183"/>
                  <a:pt x="76477" y="1079486"/>
                </a:cubicBezTo>
                <a:cubicBezTo>
                  <a:pt x="96980" y="1052148"/>
                  <a:pt x="120894" y="1027449"/>
                  <a:pt x="145057" y="1003286"/>
                </a:cubicBezTo>
                <a:cubicBezTo>
                  <a:pt x="186156" y="962187"/>
                  <a:pt x="229108" y="929010"/>
                  <a:pt x="282217" y="904226"/>
                </a:cubicBezTo>
                <a:cubicBezTo>
                  <a:pt x="293953" y="898749"/>
                  <a:pt x="307938" y="900415"/>
                  <a:pt x="320317" y="896606"/>
                </a:cubicBezTo>
                <a:cubicBezTo>
                  <a:pt x="341059" y="890224"/>
                  <a:pt x="360957" y="881366"/>
                  <a:pt x="381277" y="873746"/>
                </a:cubicBezTo>
                <a:cubicBezTo>
                  <a:pt x="399057" y="876286"/>
                  <a:pt x="416946" y="878153"/>
                  <a:pt x="434617" y="881366"/>
                </a:cubicBezTo>
                <a:cubicBezTo>
                  <a:pt x="444921" y="883239"/>
                  <a:pt x="454767" y="887264"/>
                  <a:pt x="465097" y="888986"/>
                </a:cubicBezTo>
                <a:cubicBezTo>
                  <a:pt x="512707" y="896921"/>
                  <a:pt x="507547" y="896606"/>
                  <a:pt x="533677" y="896606"/>
                </a:cubicBezTo>
                <a:lnTo>
                  <a:pt x="594637" y="919466"/>
                </a:lnTo>
                <a:close/>
              </a:path>
            </a:pathLst>
          </a:cu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</a:p>
        </p:txBody>
      </p:sp>
      <p:pic>
        <p:nvPicPr>
          <p:cNvPr id="6" name="Picture 2" descr="Image result for router icon">
            <a:extLst>
              <a:ext uri="{FF2B5EF4-FFF2-40B4-BE49-F238E27FC236}">
                <a16:creationId xmlns:a16="http://schemas.microsoft.com/office/drawing/2014/main" id="{DCDD32E6-FB72-5288-38B5-B1E1F3D12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787" y="4781639"/>
            <a:ext cx="1025761" cy="102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DB7B134C-7810-8DEA-C847-C15AEDB142B1}"/>
              </a:ext>
            </a:extLst>
          </p:cNvPr>
          <p:cNvSpPr/>
          <p:nvPr/>
        </p:nvSpPr>
        <p:spPr>
          <a:xfrm>
            <a:off x="3360038" y="5181391"/>
            <a:ext cx="583131" cy="2139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B630A0FF-D5AD-86A6-4683-6D403BA6E9C6}"/>
              </a:ext>
            </a:extLst>
          </p:cNvPr>
          <p:cNvSpPr/>
          <p:nvPr/>
        </p:nvSpPr>
        <p:spPr>
          <a:xfrm>
            <a:off x="7668213" y="5181391"/>
            <a:ext cx="583131" cy="2139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BACB9FA2-DEE5-66E1-C2BD-86B895C4E5CA}"/>
              </a:ext>
            </a:extLst>
          </p:cNvPr>
          <p:cNvSpPr/>
          <p:nvPr/>
        </p:nvSpPr>
        <p:spPr>
          <a:xfrm>
            <a:off x="5695322" y="5215015"/>
            <a:ext cx="583131" cy="2139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8D742-94C8-07F4-3615-75E328283674}"/>
              </a:ext>
            </a:extLst>
          </p:cNvPr>
          <p:cNvSpPr txBox="1"/>
          <p:nvPr/>
        </p:nvSpPr>
        <p:spPr>
          <a:xfrm>
            <a:off x="3682526" y="6342394"/>
            <a:ext cx="291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Network-based firewall</a:t>
            </a:r>
          </a:p>
        </p:txBody>
      </p:sp>
      <p:pic>
        <p:nvPicPr>
          <p:cNvPr id="11" name="Picture 4" descr="Firewall icon - Free download on Iconfinder">
            <a:extLst>
              <a:ext uri="{FF2B5EF4-FFF2-40B4-BE49-F238E27FC236}">
                <a16:creationId xmlns:a16="http://schemas.microsoft.com/office/drawing/2014/main" id="{CE3467C5-CA83-A105-30A6-B6FED7F0C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222" y="4164407"/>
            <a:ext cx="22479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158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1943-58C8-9238-F302-0DC190D9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importance of a firewall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EA55-65E3-0A4D-B0CF-036407C71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Protect the network from unauthorized access, data breaches, and other security threats. </a:t>
            </a:r>
          </a:p>
          <a:p>
            <a:r>
              <a:rPr lang="en-GB" dirty="0"/>
              <a:t>Approach</a:t>
            </a:r>
          </a:p>
          <a:p>
            <a:pPr lvl="1"/>
            <a:r>
              <a:rPr lang="en-GB" dirty="0"/>
              <a:t>Blocking or allowing traffic based on specific criteria, such as IP addresses, ports, protocols, and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9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EB54-EA71-135E-11D1-A70D33D90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Firewalls Deploying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FA57-064E-61AD-E3B2-6DC47955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Network-based firewall</a:t>
            </a:r>
          </a:p>
          <a:p>
            <a:pPr lvl="1"/>
            <a:r>
              <a:rPr lang="en-GB" dirty="0"/>
              <a:t>A device that sits between the internal network and the external network (usually the internet) and filters traffic based on predefined rules. </a:t>
            </a:r>
          </a:p>
          <a:p>
            <a:pPr lvl="1"/>
            <a:r>
              <a:rPr lang="en-GB" dirty="0"/>
              <a:t>It provides a centralized security solution for the entire network and can control traffic from multiple hosts. </a:t>
            </a:r>
          </a:p>
          <a:p>
            <a:pPr lvl="1"/>
            <a:r>
              <a:rPr lang="en-GB" dirty="0"/>
              <a:t>Network-based firewalls are effective at protecting against external threats, such as hackers and malware, but they may not be as effective at controlling internal traffic.</a:t>
            </a:r>
          </a:p>
          <a:p>
            <a:r>
              <a:rPr lang="en-GB" dirty="0"/>
              <a:t>Host-based firewall</a:t>
            </a:r>
          </a:p>
          <a:p>
            <a:pPr lvl="1"/>
            <a:r>
              <a:rPr lang="en-GB" dirty="0"/>
              <a:t>installed on individual hosts (such as servers or workstations) and filters traffic on a per-host basis. </a:t>
            </a:r>
          </a:p>
          <a:p>
            <a:pPr lvl="1"/>
            <a:r>
              <a:rPr lang="en-GB" dirty="0"/>
              <a:t>It provides a more granular level of control and can be customized for each host's specific needs. </a:t>
            </a:r>
          </a:p>
          <a:p>
            <a:pPr lvl="1"/>
            <a:r>
              <a:rPr lang="en-GB" dirty="0"/>
              <a:t>Host-based firewalls are effective at protecting against internal threats, such as unauthorized access by insiders or malware that has already infected a host, but they may not be as effective at protecting against external threats.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700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st Based Firewall - Cybersecurity Glossary">
            <a:extLst>
              <a:ext uri="{FF2B5EF4-FFF2-40B4-BE49-F238E27FC236}">
                <a16:creationId xmlns:a16="http://schemas.microsoft.com/office/drawing/2014/main" id="{F22A6E45-78A3-EAFA-BC15-3E0702E36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08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106F-B66D-1C33-5055-43698476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Firewall (iptables)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32E33-521E-36E8-94E2-B8C84F796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22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645BF1-059A-E298-7072-DC11F5520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816" y="1493306"/>
            <a:ext cx="8634208" cy="492294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EB63F2-5F69-EF26-B4AC-D6D2B0C1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Routing 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FBB3B-E63D-E279-8821-E16F2C58C230}"/>
              </a:ext>
            </a:extLst>
          </p:cNvPr>
          <p:cNvSpPr txBox="1"/>
          <p:nvPr/>
        </p:nvSpPr>
        <p:spPr>
          <a:xfrm>
            <a:off x="419100" y="1820966"/>
            <a:ext cx="1341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focus on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C66BB0-F50E-12D1-11D8-80D26E9AD4AF}"/>
              </a:ext>
            </a:extLst>
          </p:cNvPr>
          <p:cNvCxnSpPr>
            <a:stCxn id="9" idx="0"/>
          </p:cNvCxnSpPr>
          <p:nvPr/>
        </p:nvCxnSpPr>
        <p:spPr>
          <a:xfrm flipV="1">
            <a:off x="1089660" y="1280160"/>
            <a:ext cx="1181100" cy="540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69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645BF1-059A-E298-7072-DC11F5520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816" y="1493306"/>
            <a:ext cx="8634208" cy="4922947"/>
          </a:xfrm>
          <a:prstGeom prst="rect">
            <a:avLst/>
          </a:prstGeom>
        </p:spPr>
      </p:pic>
      <p:pic>
        <p:nvPicPr>
          <p:cNvPr id="4098" name="Picture 2" descr="IPtables Monioring | InfluxData">
            <a:extLst>
              <a:ext uri="{FF2B5EF4-FFF2-40B4-BE49-F238E27FC236}">
                <a16:creationId xmlns:a16="http://schemas.microsoft.com/office/drawing/2014/main" id="{538F4AF7-3A80-C825-978A-875E096A00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4" t="14222" r="9565" b="11111"/>
          <a:stretch/>
        </p:blipFill>
        <p:spPr bwMode="auto">
          <a:xfrm>
            <a:off x="1733176" y="4330948"/>
            <a:ext cx="918584" cy="81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EB63F2-5F69-EF26-B4AC-D6D2B0C1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Firewall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43BDCF-D0B3-3973-95EA-53A762B86E06}"/>
              </a:ext>
            </a:extLst>
          </p:cNvPr>
          <p:cNvGrpSpPr/>
          <p:nvPr/>
        </p:nvGrpSpPr>
        <p:grpSpPr>
          <a:xfrm>
            <a:off x="2742900" y="4884240"/>
            <a:ext cx="406440" cy="388800"/>
            <a:chOff x="2415240" y="3573600"/>
            <a:chExt cx="406440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C944B3-2E83-A179-C3CD-D9279528F2D1}"/>
                    </a:ext>
                  </a:extLst>
                </p14:cNvPr>
                <p14:cNvContentPartPr/>
                <p14:nvPr/>
              </p14:nvContentPartPr>
              <p14:xfrm>
                <a:off x="2415240" y="3573600"/>
                <a:ext cx="355320" cy="378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C944B3-2E83-A179-C3CD-D9279528F2D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06240" y="3564960"/>
                  <a:ext cx="3729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6735069-681F-35AE-5C02-0C85CD99BF83}"/>
                    </a:ext>
                  </a:extLst>
                </p14:cNvPr>
                <p14:cNvContentPartPr/>
                <p14:nvPr/>
              </p14:nvContentPartPr>
              <p14:xfrm>
                <a:off x="2621160" y="3795360"/>
                <a:ext cx="200520" cy="167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6735069-681F-35AE-5C02-0C85CD99BF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12160" y="3786720"/>
                  <a:ext cx="218160" cy="18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9647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E6FAB-0335-8CBC-CB69-8BC18164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Firewall and </a:t>
            </a:r>
            <a:r>
              <a:rPr lang="en-US" dirty="0" err="1">
                <a:latin typeface="OCRB" panose="020B0609020202020204" pitchFamily="49" charset="0"/>
              </a:rPr>
              <a:t>iptable</a:t>
            </a:r>
            <a:endParaRPr lang="en-US" dirty="0">
              <a:latin typeface="OCRB" panose="020B0609020202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07AC-1333-0248-083A-BAEAE3DEC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latin typeface="OCRB" panose="020B0609020202020204" pitchFamily="49" charset="0"/>
              </a:rPr>
              <a:t>iptables</a:t>
            </a:r>
            <a:r>
              <a:rPr lang="en-GB" dirty="0"/>
              <a:t> is a software firewall</a:t>
            </a:r>
          </a:p>
          <a:p>
            <a:pPr lvl="1"/>
            <a:r>
              <a:rPr lang="en-GB" dirty="0"/>
              <a:t>pre-installed on most Linux-based operating systems.</a:t>
            </a:r>
          </a:p>
          <a:p>
            <a:r>
              <a:rPr lang="en-GB" dirty="0"/>
              <a:t>Linux Firewall defines a set of rules that determine how network traffic is allowed or blocked on a system</a:t>
            </a:r>
          </a:p>
          <a:p>
            <a:pPr lvl="1"/>
            <a:r>
              <a:rPr lang="en-GB" dirty="0"/>
              <a:t>These rules are organized into chains, which are lists of rules that are evaluated in sequence. </a:t>
            </a:r>
          </a:p>
          <a:p>
            <a:r>
              <a:rPr lang="en-GB" dirty="0"/>
              <a:t>Each rule can match packets based on various criteria</a:t>
            </a:r>
          </a:p>
          <a:p>
            <a:pPr lvl="1"/>
            <a:r>
              <a:rPr lang="en-GB" dirty="0"/>
              <a:t>such as the source or destination IP address, the protocol, and the port number.</a:t>
            </a:r>
          </a:p>
          <a:p>
            <a:r>
              <a:rPr lang="en-GB" dirty="0"/>
              <a:t> When a rule matches a packet, it can perform an action</a:t>
            </a:r>
          </a:p>
          <a:p>
            <a:pPr lvl="1"/>
            <a:r>
              <a:rPr lang="en-GB" dirty="0"/>
              <a:t>such as accepting, rejecting, or modifying the packet. </a:t>
            </a:r>
          </a:p>
          <a:p>
            <a:r>
              <a:rPr lang="en-GB" dirty="0"/>
              <a:t>The "iptables" command-line utility is used to manage the firewall rules</a:t>
            </a:r>
          </a:p>
          <a:p>
            <a:pPr lvl="1"/>
            <a:r>
              <a:rPr lang="en-GB" dirty="0"/>
              <a:t>it provides a powerful and flexible way to control network traffic on a Linux system.</a:t>
            </a:r>
            <a:endParaRPr lang="en-US" dirty="0"/>
          </a:p>
        </p:txBody>
      </p:sp>
      <p:pic>
        <p:nvPicPr>
          <p:cNvPr id="7170" name="Picture 2" descr="Desktop Computer Icon Vector Art, Icons, and Graphics for Free Download">
            <a:extLst>
              <a:ext uri="{FF2B5EF4-FFF2-40B4-BE49-F238E27FC236}">
                <a16:creationId xmlns:a16="http://schemas.microsoft.com/office/drawing/2014/main" id="{321A1EA1-EA18-8C8E-0A6A-4FA8E8D8E2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5" b="10177"/>
          <a:stretch/>
        </p:blipFill>
        <p:spPr bwMode="auto">
          <a:xfrm>
            <a:off x="10758656" y="906337"/>
            <a:ext cx="638596" cy="481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Firewall icon - Free download on Iconfinder">
            <a:extLst>
              <a:ext uri="{FF2B5EF4-FFF2-40B4-BE49-F238E27FC236}">
                <a16:creationId xmlns:a16="http://schemas.microsoft.com/office/drawing/2014/main" id="{05DD4450-BBB2-786E-EAB8-7C94833A6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707" y="850045"/>
            <a:ext cx="593944" cy="59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8BB8D06E-F776-83A6-8D36-5773E671C3CE}"/>
              </a:ext>
            </a:extLst>
          </p:cNvPr>
          <p:cNvSpPr/>
          <p:nvPr/>
        </p:nvSpPr>
        <p:spPr>
          <a:xfrm>
            <a:off x="8389620" y="1082040"/>
            <a:ext cx="426720" cy="144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3ABAD9F-091F-86CB-8A77-30BBA5B6BF05}"/>
              </a:ext>
            </a:extLst>
          </p:cNvPr>
          <p:cNvSpPr/>
          <p:nvPr/>
        </p:nvSpPr>
        <p:spPr>
          <a:xfrm>
            <a:off x="10010880" y="1074626"/>
            <a:ext cx="426720" cy="144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88792-3B3C-F045-549E-E167BB14F1C8}"/>
              </a:ext>
            </a:extLst>
          </p:cNvPr>
          <p:cNvSpPr txBox="1"/>
          <p:nvPr/>
        </p:nvSpPr>
        <p:spPr>
          <a:xfrm>
            <a:off x="8389620" y="72908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D120B-FB53-C146-1597-3C0B44927772}"/>
              </a:ext>
            </a:extLst>
          </p:cNvPr>
          <p:cNvSpPr txBox="1"/>
          <p:nvPr/>
        </p:nvSpPr>
        <p:spPr>
          <a:xfrm>
            <a:off x="9811018" y="729084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 Black" panose="020B0A04020102020204" pitchFamily="34" charset="0"/>
                <a:cs typeface="Aldhabi" panose="020B0604020202020204" pitchFamily="2" charset="-78"/>
              </a:rPr>
              <a:t>Accept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CD52775-1B5E-FDAE-702C-4A699D9FBBAE}"/>
              </a:ext>
            </a:extLst>
          </p:cNvPr>
          <p:cNvSpPr/>
          <p:nvPr/>
        </p:nvSpPr>
        <p:spPr>
          <a:xfrm>
            <a:off x="10028217" y="532074"/>
            <a:ext cx="426720" cy="144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53336-18BC-7A0B-14C7-C814DC10758E}"/>
              </a:ext>
            </a:extLst>
          </p:cNvPr>
          <p:cNvSpPr txBox="1"/>
          <p:nvPr/>
        </p:nvSpPr>
        <p:spPr>
          <a:xfrm>
            <a:off x="9810865" y="158144"/>
            <a:ext cx="94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 Black" panose="020B0A04020102020204" pitchFamily="34" charset="0"/>
                <a:cs typeface="Aldhabi" panose="020B0604020202020204" pitchFamily="2" charset="-78"/>
              </a:rPr>
              <a:t>reject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19DBD19-7E17-474A-A82C-C19C0FBBFA5A}"/>
              </a:ext>
            </a:extLst>
          </p:cNvPr>
          <p:cNvSpPr/>
          <p:nvPr/>
        </p:nvSpPr>
        <p:spPr>
          <a:xfrm>
            <a:off x="10059117" y="1758090"/>
            <a:ext cx="426720" cy="144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F4B7FC-B2D6-AD52-DBD9-7217367908A6}"/>
              </a:ext>
            </a:extLst>
          </p:cNvPr>
          <p:cNvSpPr txBox="1"/>
          <p:nvPr/>
        </p:nvSpPr>
        <p:spPr>
          <a:xfrm>
            <a:off x="9851752" y="1388825"/>
            <a:ext cx="843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 Black" panose="020B0A04020102020204" pitchFamily="34" charset="0"/>
                <a:cs typeface="Aldhabi" panose="020B0604020202020204" pitchFamily="2" charset="-78"/>
              </a:rPr>
              <a:t>modify</a:t>
            </a:r>
          </a:p>
        </p:txBody>
      </p:sp>
    </p:spTree>
    <p:extLst>
      <p:ext uri="{BB962C8B-B14F-4D97-AF65-F5344CB8AC3E}">
        <p14:creationId xmlns:p14="http://schemas.microsoft.com/office/powerpoint/2010/main" val="1600421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9D7D1-23CA-E1BF-429B-10F0CC2A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172" y="4181621"/>
            <a:ext cx="6774767" cy="250719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79BFC-4CA8-DC3B-4611-0B46D02F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CRB" panose="020B0609020202020204" pitchFamily="49" charset="0"/>
              </a:rPr>
              <a:t>iptables</a:t>
            </a:r>
            <a:r>
              <a:rPr lang="en-US" dirty="0"/>
              <a:t> vs. </a:t>
            </a:r>
            <a:r>
              <a:rPr lang="en-US" dirty="0" err="1">
                <a:latin typeface="OCRB" panose="020B0609020202020204" pitchFamily="49" charset="0"/>
              </a:rPr>
              <a:t>ufw</a:t>
            </a:r>
            <a:endParaRPr lang="en-US" dirty="0">
              <a:latin typeface="OCRB" panose="020B0609020202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D48E8-E427-BFD9-27F1-E5A14DA6F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0934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UFW (Uncomplicated Firewall) is a front-end tool for managing iptables firewall rules on a Linux system. </a:t>
            </a:r>
          </a:p>
          <a:p>
            <a:r>
              <a:rPr lang="en-GB" dirty="0"/>
              <a:t>UFW does not have its own set of rules separate from iptables</a:t>
            </a:r>
          </a:p>
          <a:p>
            <a:pPr lvl="1"/>
            <a:r>
              <a:rPr lang="en-GB" dirty="0"/>
              <a:t>it translates the rules into iptables commands and applies them to the firewall.</a:t>
            </a:r>
            <a:endParaRPr lang="en-US" dirty="0"/>
          </a:p>
          <a:p>
            <a:pPr lvl="1"/>
            <a:r>
              <a:rPr lang="en-US" dirty="0"/>
              <a:t>it provides a simplified interface to manage iptables, which is a command-line utility for configuring </a:t>
            </a:r>
            <a:r>
              <a:rPr lang="en-US" dirty="0" err="1"/>
              <a:t>netfilter</a:t>
            </a:r>
            <a:r>
              <a:rPr lang="en-US" dirty="0"/>
              <a:t> firewall rules in the Linux kernel.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94961-FE77-1E45-D0C7-D25872DBE6B3}"/>
              </a:ext>
            </a:extLst>
          </p:cNvPr>
          <p:cNvSpPr txBox="1"/>
          <p:nvPr/>
        </p:nvSpPr>
        <p:spPr>
          <a:xfrm>
            <a:off x="972457" y="4499429"/>
            <a:ext cx="2111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egoe Print" panose="02000600000000000000" pitchFamily="2" charset="0"/>
              </a:rPr>
              <a:t>disable </a:t>
            </a:r>
            <a:r>
              <a:rPr lang="en-US" dirty="0" err="1">
                <a:latin typeface="OCRB" panose="020B0609020202020204" pitchFamily="49" charset="0"/>
                <a:ea typeface="+mj-ea"/>
                <a:cs typeface="+mj-cs"/>
              </a:rPr>
              <a:t>ufw</a:t>
            </a:r>
            <a:r>
              <a:rPr lang="en-US" dirty="0">
                <a:solidFill>
                  <a:srgbClr val="FF0000"/>
                </a:solidFill>
                <a:latin typeface="Segoe Print" panose="02000600000000000000" pitchFamily="2" charset="0"/>
              </a:rPr>
              <a:t> to void </a:t>
            </a:r>
            <a:r>
              <a:rPr lang="en-US" dirty="0" err="1">
                <a:solidFill>
                  <a:srgbClr val="FF0000"/>
                </a:solidFill>
                <a:latin typeface="Segoe Print" panose="02000600000000000000" pitchFamily="2" charset="0"/>
              </a:rPr>
              <a:t>conflits</a:t>
            </a:r>
            <a:r>
              <a:rPr lang="en-US" dirty="0">
                <a:solidFill>
                  <a:srgbClr val="FF0000"/>
                </a:solidFill>
                <a:latin typeface="Segoe Print" panose="02000600000000000000" pitchFamily="2" charset="0"/>
              </a:rPr>
              <a:t> with </a:t>
            </a:r>
            <a:r>
              <a:rPr lang="en-US" dirty="0">
                <a:latin typeface="OCRB" panose="020B0609020202020204" pitchFamily="49" charset="0"/>
                <a:ea typeface="+mj-ea"/>
                <a:cs typeface="+mj-cs"/>
              </a:rPr>
              <a:t>iptables</a:t>
            </a:r>
            <a:r>
              <a:rPr lang="en-US" dirty="0">
                <a:solidFill>
                  <a:srgbClr val="FF0000"/>
                </a:solidFill>
                <a:latin typeface="Segoe Print" panose="02000600000000000000" pitchFamily="2" charset="0"/>
              </a:rPr>
              <a:t> before the lab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FC0956-82DB-F1B7-EF48-39723A0D423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084286" y="4927600"/>
            <a:ext cx="1240971" cy="17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661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16A23F-C2BF-E65D-E2C9-4CC40CDD7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217" y="1870608"/>
            <a:ext cx="9855566" cy="2945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B814EC-8332-7945-0034-31EB3C5FD57B}"/>
              </a:ext>
            </a:extLst>
          </p:cNvPr>
          <p:cNvSpPr txBox="1"/>
          <p:nvPr/>
        </p:nvSpPr>
        <p:spPr>
          <a:xfrm>
            <a:off x="2141220" y="5332214"/>
            <a:ext cx="7612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OCRB" panose="020B0609020202020204" pitchFamily="49" charset="0"/>
              </a:rPr>
              <a:t>iptables</a:t>
            </a:r>
            <a:r>
              <a:rPr lang="en-GB" dirty="0">
                <a:latin typeface="Segoe Print" panose="02000600000000000000" pitchFamily="2" charset="0"/>
              </a:rPr>
              <a:t> defines classes of </a:t>
            </a:r>
            <a:r>
              <a:rPr lang="en-GB" dirty="0">
                <a:solidFill>
                  <a:srgbClr val="FF0000"/>
                </a:solidFill>
                <a:latin typeface="Segoe Print" panose="02000600000000000000" pitchFamily="2" charset="0"/>
              </a:rPr>
              <a:t>rules</a:t>
            </a:r>
            <a:r>
              <a:rPr lang="en-GB" dirty="0">
                <a:latin typeface="Segoe Print" panose="02000600000000000000" pitchFamily="2" charset="0"/>
              </a:rPr>
              <a:t> called chains). Rules from each chain are applied based on where the packet is from/going to</a:t>
            </a:r>
            <a:endParaRPr lang="en-US" dirty="0">
              <a:latin typeface="Segoe Print" panose="02000600000000000000" pitchFamily="2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3C05A0E-4B2F-8541-FB2F-02EB86AB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Chains in iptables</a:t>
            </a:r>
          </a:p>
        </p:txBody>
      </p:sp>
    </p:spTree>
    <p:extLst>
      <p:ext uri="{BB962C8B-B14F-4D97-AF65-F5344CB8AC3E}">
        <p14:creationId xmlns:p14="http://schemas.microsoft.com/office/powerpoint/2010/main" val="2536005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F9FF3-B9F4-2BA5-713C-294CA60E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in </a:t>
            </a:r>
            <a:r>
              <a:rPr lang="en-US" dirty="0">
                <a:latin typeface="OCRB" panose="020B0609020202020204" pitchFamily="49" charset="0"/>
              </a:rPr>
              <a:t>iptables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51AFC-5B24-F22A-9786-B5EE85D6E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Packet match conditions:</a:t>
            </a:r>
          </a:p>
          <a:p>
            <a:pPr lvl="1"/>
            <a:r>
              <a:rPr lang="en-GB" dirty="0"/>
              <a:t>IP source address</a:t>
            </a:r>
          </a:p>
          <a:p>
            <a:pPr lvl="1"/>
            <a:r>
              <a:rPr lang="en-GB" dirty="0"/>
              <a:t>IP destination address</a:t>
            </a:r>
          </a:p>
          <a:p>
            <a:pPr lvl="1"/>
            <a:r>
              <a:rPr lang="en-GB" dirty="0"/>
              <a:t>TCP/UDP source port number</a:t>
            </a:r>
          </a:p>
          <a:p>
            <a:pPr lvl="1"/>
            <a:r>
              <a:rPr lang="en-GB" dirty="0"/>
              <a:t>TCP/UDP destination port number</a:t>
            </a:r>
          </a:p>
          <a:p>
            <a:pPr lvl="1"/>
            <a:r>
              <a:rPr lang="en-GB" dirty="0"/>
              <a:t>Other IP/TCP/UDP header fields</a:t>
            </a:r>
          </a:p>
          <a:p>
            <a:r>
              <a:rPr lang="en-GB" dirty="0"/>
              <a:t>Direction of traffic:</a:t>
            </a:r>
          </a:p>
          <a:p>
            <a:pPr lvl="1"/>
            <a:r>
              <a:rPr lang="en-GB" dirty="0"/>
              <a:t>Is the packet coming from outside (to inside) or is it coming from inside (to outside)</a:t>
            </a:r>
          </a:p>
          <a:p>
            <a:r>
              <a:rPr lang="en-GB" dirty="0"/>
              <a:t>Actions:</a:t>
            </a:r>
          </a:p>
          <a:p>
            <a:pPr lvl="1"/>
            <a:r>
              <a:rPr lang="en-GB" dirty="0"/>
              <a:t>ACCEPT or DROP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2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95BB-F186-C3DE-99F4-D523BDBC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Firewall running on 1.1.1.12</a:t>
            </a:r>
          </a:p>
        </p:txBody>
      </p:sp>
      <p:pic>
        <p:nvPicPr>
          <p:cNvPr id="5124" name="Picture 4" descr="PIC">
            <a:extLst>
              <a:ext uri="{FF2B5EF4-FFF2-40B4-BE49-F238E27FC236}">
                <a16:creationId xmlns:a16="http://schemas.microsoft.com/office/drawing/2014/main" id="{9523C704-B7C9-F0CC-4CC8-86E5A4723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0680"/>
            <a:ext cx="7190729" cy="440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E0062FE-3988-04FA-8D2F-366B6091CCB4}"/>
              </a:ext>
            </a:extLst>
          </p:cNvPr>
          <p:cNvGrpSpPr/>
          <p:nvPr/>
        </p:nvGrpSpPr>
        <p:grpSpPr>
          <a:xfrm>
            <a:off x="715320" y="486960"/>
            <a:ext cx="1647000" cy="1365120"/>
            <a:chOff x="715320" y="486960"/>
            <a:chExt cx="1647000" cy="13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2AA3AA-259E-7836-0615-20E9A90A9F33}"/>
                    </a:ext>
                  </a:extLst>
                </p14:cNvPr>
                <p14:cNvContentPartPr/>
                <p14:nvPr/>
              </p14:nvContentPartPr>
              <p14:xfrm>
                <a:off x="715320" y="486960"/>
                <a:ext cx="1388160" cy="860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2AA3AA-259E-7836-0615-20E9A90A9F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6320" y="477960"/>
                  <a:ext cx="1405800" cy="87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456F8A-2D61-CFC2-2567-455027048392}"/>
                    </a:ext>
                  </a:extLst>
                </p14:cNvPr>
                <p14:cNvContentPartPr/>
                <p14:nvPr/>
              </p14:nvContentPartPr>
              <p14:xfrm>
                <a:off x="2003760" y="1348440"/>
                <a:ext cx="264240" cy="481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456F8A-2D61-CFC2-2567-4550270483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4760" y="1339800"/>
                  <a:ext cx="28188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9B3E2D-93BA-E99E-72EA-D85236C3ECFF}"/>
                    </a:ext>
                  </a:extLst>
                </p14:cNvPr>
                <p14:cNvContentPartPr/>
                <p14:nvPr/>
              </p14:nvContentPartPr>
              <p14:xfrm>
                <a:off x="2163960" y="1608360"/>
                <a:ext cx="198360" cy="243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9B3E2D-93BA-E99E-72EA-D85236C3EC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54960" y="1599720"/>
                  <a:ext cx="216000" cy="26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9490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3C1724-55B0-0E00-0623-D8D65476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rules to </a:t>
            </a:r>
            <a:r>
              <a:rPr lang="en-US" dirty="0">
                <a:latin typeface="OCRB" panose="020B0609020202020204" pitchFamily="49" charset="0"/>
              </a:rPr>
              <a:t>iptables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168BC-9505-E2E7-1A32-F2988C357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08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2847E2-E0D8-D8DF-4D19-705E31F2C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73152"/>
            <a:ext cx="8679932" cy="46867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9E6361-FE7C-0256-C420-9A186328F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5511" y="0"/>
            <a:ext cx="2256489" cy="8995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8305EF2-CC0C-D7C1-CB5D-16487CA1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current rules in iptables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E194F-9937-29B4-6FBE-C8FAAEF75ED5}"/>
              </a:ext>
            </a:extLst>
          </p:cNvPr>
          <p:cNvSpPr txBox="1"/>
          <p:nvPr/>
        </p:nvSpPr>
        <p:spPr>
          <a:xfrm>
            <a:off x="6096000" y="2169886"/>
            <a:ext cx="289002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Input/forward/output chains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3A7C07-D4A0-5762-58F3-309A174B26C4}"/>
              </a:ext>
            </a:extLst>
          </p:cNvPr>
          <p:cNvCxnSpPr/>
          <p:nvPr/>
        </p:nvCxnSpPr>
        <p:spPr>
          <a:xfrm flipH="1">
            <a:off x="3897086" y="2354552"/>
            <a:ext cx="2198914" cy="301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B41289-90C8-87B0-8A11-5BE28D66D731}"/>
              </a:ext>
            </a:extLst>
          </p:cNvPr>
          <p:cNvCxnSpPr/>
          <p:nvPr/>
        </p:nvCxnSpPr>
        <p:spPr>
          <a:xfrm flipH="1">
            <a:off x="4122057" y="2539218"/>
            <a:ext cx="3352800" cy="223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35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AE2102-2A7C-2B9E-DF97-6D3DF49DC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798" y="388470"/>
            <a:ext cx="6332543" cy="29655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2918EE-62A0-C742-DCB3-407FE7874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99" y="3503985"/>
            <a:ext cx="7220340" cy="308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25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08B10C-2D3C-2EEA-B317-AF98723F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800"/>
          <a:stretch/>
        </p:blipFill>
        <p:spPr>
          <a:xfrm>
            <a:off x="952132" y="2045899"/>
            <a:ext cx="8489416" cy="72419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902494-60CF-10F2-1020-2454C3EC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firewall rule to Kali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8AB36-3A6F-1440-E6C8-352EE1266652}"/>
              </a:ext>
            </a:extLst>
          </p:cNvPr>
          <p:cNvSpPr txBox="1"/>
          <p:nvPr/>
        </p:nvSpPr>
        <p:spPr>
          <a:xfrm>
            <a:off x="952132" y="1364623"/>
            <a:ext cx="8633828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Adds a new rule to the INPUT chain that matches incoming traffic from the IP address 136.160.215.15 and sends it to a </a:t>
            </a:r>
            <a:r>
              <a:rPr lang="en-GB" dirty="0" err="1"/>
              <a:t>Netfilter</a:t>
            </a:r>
            <a:r>
              <a:rPr lang="en-GB" dirty="0"/>
              <a:t> queue with ID 1 for further processing.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82F14CB-70AA-C07F-1707-E4D1CFF21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337" y="3148951"/>
            <a:ext cx="10515601" cy="2893615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sudo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- runs the command as the superuser, which is necessary since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iptables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requires elevated privileges to modify the firewall rules.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Söhn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iptables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– a command-line tool to configure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Netfilter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, the Linux firewall system.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Söhn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-A 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- appends a new rule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chain.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Söhn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-s 136.160.215.15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- the source IP address for the rule. The rule will only match traffic that comes from this IP address.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Söhn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-j NFQUEUE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- the target for the rule.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NFQUEUE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target sends matching packets to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Netfilter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queue for further processing.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Söhn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--queue-num 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- the ID of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Netfilter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queue to use. In this case, we're using queue ID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2282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36A7-FAC5-C0E5-9740-F5E6096B0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View the </a:t>
            </a:r>
            <a:r>
              <a:rPr lang="en-GB"/>
              <a:t>newly added </a:t>
            </a:r>
            <a:r>
              <a:rPr lang="en-GB" dirty="0"/>
              <a:t>firewall rule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DB3442-6592-8D0E-C323-B7FD49408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55" y="1791262"/>
            <a:ext cx="7513971" cy="2522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15A6B2-91A4-7D9A-879F-B97B5A6E37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590"/>
          <a:stretch/>
        </p:blipFill>
        <p:spPr>
          <a:xfrm>
            <a:off x="838200" y="5167311"/>
            <a:ext cx="8489416" cy="9078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B1674D-73E6-9098-ADA2-4F86F32F0186}"/>
              </a:ext>
            </a:extLst>
          </p:cNvPr>
          <p:cNvSpPr txBox="1"/>
          <p:nvPr/>
        </p:nvSpPr>
        <p:spPr>
          <a:xfrm>
            <a:off x="931555" y="4488934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rgbClr val="374151"/>
                </a:solidFill>
                <a:latin typeface="Arial" panose="020B0604020202020204" pitchFamily="34" charset="0"/>
                <a:ea typeface="Söhne"/>
              </a:rPr>
              <a:t>-S </a:t>
            </a:r>
            <a:r>
              <a:rPr lang="en-US" altLang="en-US" b="1" dirty="0">
                <a:solidFill>
                  <a:srgbClr val="374151"/>
                </a:solidFill>
                <a:latin typeface="Arial Unicode MS"/>
              </a:rPr>
              <a:t>INPUT</a:t>
            </a:r>
            <a:r>
              <a:rPr lang="en-US" altLang="en-US" dirty="0">
                <a:solidFill>
                  <a:srgbClr val="374151"/>
                </a:solidFill>
                <a:latin typeface="Arial" panose="020B0604020202020204" pitchFamily="34" charset="0"/>
                <a:ea typeface="Söhne"/>
              </a:rPr>
              <a:t>: List </a:t>
            </a:r>
            <a:r>
              <a:rPr lang="en-US" altLang="en-US" b="1" dirty="0">
                <a:solidFill>
                  <a:srgbClr val="374151"/>
                </a:solidFill>
                <a:latin typeface="Arial Unicode MS"/>
              </a:rPr>
              <a:t>INPUT</a:t>
            </a:r>
            <a:r>
              <a:rPr lang="en-US" altLang="en-US" dirty="0">
                <a:solidFill>
                  <a:srgbClr val="374151"/>
                </a:solidFill>
                <a:latin typeface="Arial" panose="020B0604020202020204" pitchFamily="34" charset="0"/>
                <a:ea typeface="Söhne"/>
              </a:rPr>
              <a:t> chain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ea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759920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8337-3261-1AE4-F424-782557E8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the rule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A6F6C-3A98-2886-DB3B-64A21FFE5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44" y="1847746"/>
            <a:ext cx="8436071" cy="2385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DEF234-2685-BD29-228C-A0937B9844CD}"/>
              </a:ext>
            </a:extLst>
          </p:cNvPr>
          <p:cNvSpPr txBox="1"/>
          <p:nvPr/>
        </p:nvSpPr>
        <p:spPr>
          <a:xfrm>
            <a:off x="7239000" y="2717213"/>
            <a:ext cx="313944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MUST be the exact same rule specification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B5B0E4-E502-7CB3-CF37-80BB9A7B7820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8397240" y="2415540"/>
            <a:ext cx="411480" cy="301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676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A39F6-0012-EBA4-AD3E-2C521286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a HTTP request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FCA9E-7B9B-7724-B999-A74D69D01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a rule</a:t>
            </a:r>
          </a:p>
        </p:txBody>
      </p:sp>
    </p:spTree>
    <p:extLst>
      <p:ext uri="{BB962C8B-B14F-4D97-AF65-F5344CB8AC3E}">
        <p14:creationId xmlns:p14="http://schemas.microsoft.com/office/powerpoint/2010/main" val="3992541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E955EB-75F5-0659-E14D-696E2ABF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Intercept and manipulate network packets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C9FBBD-A1B9-F416-1C7D-2EC6D3AA0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OCRB" panose="020B0609020202020204" pitchFamily="49" charset="0"/>
              </a:rPr>
              <a:t>netfilter</a:t>
            </a:r>
            <a:r>
              <a:rPr lang="en-GB" dirty="0"/>
              <a:t> framework is a set of hooks that can be used to intercept and modify network traffic as it passes through the kernel. </a:t>
            </a:r>
          </a:p>
          <a:p>
            <a:pPr lvl="1"/>
            <a:r>
              <a:rPr lang="en-GB" dirty="0" err="1">
                <a:latin typeface="OCRB" panose="020B0609020202020204" pitchFamily="49" charset="0"/>
              </a:rPr>
              <a:t>netfilter</a:t>
            </a:r>
            <a:r>
              <a:rPr lang="en-GB" dirty="0"/>
              <a:t> framework is a part of the Linux kernel </a:t>
            </a:r>
          </a:p>
          <a:p>
            <a:r>
              <a:rPr lang="en-GB" dirty="0" err="1">
                <a:latin typeface="OCRB" panose="020B0609020202020204" pitchFamily="49" charset="0"/>
              </a:rPr>
              <a:t>NetfilterQueue</a:t>
            </a:r>
            <a:r>
              <a:rPr lang="en-GB" dirty="0"/>
              <a:t> library provides a Python interface to the </a:t>
            </a:r>
            <a:r>
              <a:rPr lang="en-GB" dirty="0" err="1"/>
              <a:t>netfilter</a:t>
            </a:r>
            <a:r>
              <a:rPr lang="en-GB" dirty="0"/>
              <a:t> framework, allowing you to intercept and modify network packets using Python code.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182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D401-F7E8-E59D-2C75-7FF169DE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OCRB" panose="020B0609020202020204" pitchFamily="49" charset="0"/>
              </a:rPr>
              <a:t>NetfilterQueue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0A26-4121-084F-B681-3345A0334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err="1">
                <a:latin typeface="OCRB" panose="020B0609020202020204" pitchFamily="49" charset="0"/>
              </a:rPr>
              <a:t>netfilterQueue</a:t>
            </a:r>
            <a:r>
              <a:rPr lang="en-GB" dirty="0"/>
              <a:t> is useful for a variety of purposes</a:t>
            </a:r>
          </a:p>
          <a:p>
            <a:pPr lvl="1"/>
            <a:r>
              <a:rPr lang="en-GB" dirty="0"/>
              <a:t>implementing a firewall, </a:t>
            </a:r>
          </a:p>
          <a:p>
            <a:pPr lvl="1"/>
            <a:r>
              <a:rPr lang="en-GB" dirty="0"/>
              <a:t>a packet sniffer, or </a:t>
            </a:r>
          </a:p>
          <a:p>
            <a:pPr lvl="1"/>
            <a:r>
              <a:rPr lang="en-GB" dirty="0"/>
              <a:t>a network intrusion detection system.</a:t>
            </a:r>
            <a:endParaRPr lang="en-US" dirty="0"/>
          </a:p>
          <a:p>
            <a:r>
              <a:rPr lang="en-GB" dirty="0"/>
              <a:t>How </a:t>
            </a:r>
            <a:r>
              <a:rPr lang="en-GB" sz="2400" dirty="0" err="1">
                <a:latin typeface="OCRB" panose="020B0609020202020204" pitchFamily="49" charset="0"/>
              </a:rPr>
              <a:t>netfilterQueue</a:t>
            </a:r>
            <a:r>
              <a:rPr lang="en-GB" dirty="0"/>
              <a:t> works</a:t>
            </a:r>
          </a:p>
          <a:p>
            <a:pPr lvl="1"/>
            <a:r>
              <a:rPr lang="en-GB" dirty="0"/>
              <a:t>creating a </a:t>
            </a:r>
            <a:r>
              <a:rPr lang="en-GB" dirty="0" err="1"/>
              <a:t>userspace</a:t>
            </a:r>
            <a:r>
              <a:rPr lang="en-GB" dirty="0"/>
              <a:t> application that sets up a </a:t>
            </a:r>
            <a:r>
              <a:rPr lang="en-GB" dirty="0" err="1">
                <a:latin typeface="OCRB" panose="020B0609020202020204" pitchFamily="49" charset="0"/>
              </a:rPr>
              <a:t>netfilter</a:t>
            </a:r>
            <a:r>
              <a:rPr lang="en-GB" dirty="0"/>
              <a:t> queue and waits for packets to be intercepted and passed to the </a:t>
            </a:r>
            <a:r>
              <a:rPr lang="en-GB" dirty="0" err="1"/>
              <a:t>userspace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Once a packet is intercepted, it can be modified, dropped, or passed on to its destination, depending on the needs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4194569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9D74D1-D135-E3AB-50B8-89A326A8C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92" y="2129722"/>
            <a:ext cx="9182896" cy="1562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945CBF-54B9-6B0C-50D9-37595CDCB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172" y="4175760"/>
            <a:ext cx="6302286" cy="14555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7CDAA0-79C4-34CA-4A4A-C49CB6074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GB" dirty="0" err="1">
                <a:latin typeface="OCRB" panose="020B0609020202020204" pitchFamily="49" charset="0"/>
              </a:rPr>
              <a:t>NetfilterQueue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926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4F6D0-72F7-CC20-AF31-194059348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11" y="2971760"/>
            <a:ext cx="11057578" cy="9144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D34A32-698F-E012-D490-0ED986E11AD8}"/>
              </a:ext>
            </a:extLst>
          </p:cNvPr>
          <p:cNvSpPr txBox="1"/>
          <p:nvPr/>
        </p:nvSpPr>
        <p:spPr>
          <a:xfrm>
            <a:off x="567211" y="4271203"/>
            <a:ext cx="110163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wget</a:t>
            </a:r>
            <a:r>
              <a:rPr lang="en-US" sz="1200" dirty="0"/>
              <a:t> https://raw.githubusercontent.com/frankwxu/digital-forensics-lab/main/Networking_Forensics/lab_files/firewall/ iptables_handle_packets_drop.py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4A40BB-5F7B-4AEF-DDDD-07751A52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traffic monitor that Uses </a:t>
            </a:r>
            <a:r>
              <a:rPr lang="en-GB" dirty="0" err="1">
                <a:latin typeface="OCRB" panose="020B0609020202020204" pitchFamily="49" charset="0"/>
              </a:rPr>
              <a:t>NetfilterQueue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F1DD5-F33B-5167-8133-12FBD47723D6}"/>
              </a:ext>
            </a:extLst>
          </p:cNvPr>
          <p:cNvSpPr txBox="1"/>
          <p:nvPr/>
        </p:nvSpPr>
        <p:spPr>
          <a:xfrm>
            <a:off x="624840" y="2499360"/>
            <a:ext cx="638726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Intercept the drop packets based on incoming packets’ IP address</a:t>
            </a:r>
          </a:p>
        </p:txBody>
      </p:sp>
    </p:spTree>
    <p:extLst>
      <p:ext uri="{BB962C8B-B14F-4D97-AF65-F5344CB8AC3E}">
        <p14:creationId xmlns:p14="http://schemas.microsoft.com/office/powerpoint/2010/main" val="2757048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37992D-A4C7-B1B0-46EB-F68752574E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52"/>
          <a:stretch/>
        </p:blipFill>
        <p:spPr>
          <a:xfrm>
            <a:off x="323100" y="420308"/>
            <a:ext cx="8383384" cy="2763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C76F7-F0FE-7031-A082-E288C8212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433" y="4446857"/>
            <a:ext cx="6812870" cy="2347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FF1AF4-2AAB-84D2-E626-D0AE63CA2E75}"/>
              </a:ext>
            </a:extLst>
          </p:cNvPr>
          <p:cNvSpPr txBox="1"/>
          <p:nvPr/>
        </p:nvSpPr>
        <p:spPr>
          <a:xfrm>
            <a:off x="9135036" y="599052"/>
            <a:ext cx="244721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1. Listening and intercepting. It will generate a rule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50D3C7-CB33-73D2-2165-36F90B775BA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836229" y="1060717"/>
            <a:ext cx="2298807" cy="1199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25A623-BA44-B116-2F4F-D140F597BE1F}"/>
              </a:ext>
            </a:extLst>
          </p:cNvPr>
          <p:cNvSpPr txBox="1"/>
          <p:nvPr/>
        </p:nvSpPr>
        <p:spPr>
          <a:xfrm>
            <a:off x="9172707" y="2290672"/>
            <a:ext cx="263466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2. Generating http with</a:t>
            </a:r>
          </a:p>
          <a:p>
            <a:r>
              <a:rPr lang="en-US" dirty="0" err="1"/>
              <a:t>ip.src</a:t>
            </a:r>
            <a:r>
              <a:rPr lang="en-US" dirty="0"/>
              <a:t>=136.160.215.194 </a:t>
            </a:r>
            <a:r>
              <a:rPr lang="en-US" dirty="0" err="1"/>
              <a:t>ip.dst</a:t>
            </a:r>
            <a:r>
              <a:rPr lang="en-US" dirty="0"/>
              <a:t>=136.160.215.15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224A2C-1D10-863C-A866-3D7C06234D14}"/>
              </a:ext>
            </a:extLst>
          </p:cNvPr>
          <p:cNvCxnSpPr/>
          <p:nvPr/>
        </p:nvCxnSpPr>
        <p:spPr>
          <a:xfrm flipH="1">
            <a:off x="8824686" y="3258457"/>
            <a:ext cx="1698171" cy="20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69CE2E0-F540-F6BB-1130-FCAE4A51B3C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126"/>
          <a:stretch/>
        </p:blipFill>
        <p:spPr>
          <a:xfrm>
            <a:off x="323100" y="3183316"/>
            <a:ext cx="8345714" cy="1206822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0F0E89-B617-0633-CCC7-8277E7FF3C60}"/>
              </a:ext>
            </a:extLst>
          </p:cNvPr>
          <p:cNvCxnSpPr>
            <a:cxnSpLocks/>
          </p:cNvCxnSpPr>
          <p:nvPr/>
        </p:nvCxnSpPr>
        <p:spPr>
          <a:xfrm flipH="1">
            <a:off x="5900057" y="1217620"/>
            <a:ext cx="3234979" cy="2409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99E3C0B-5D54-ACBA-107E-AFE5EEB163C7}"/>
              </a:ext>
            </a:extLst>
          </p:cNvPr>
          <p:cNvSpPr txBox="1"/>
          <p:nvPr/>
        </p:nvSpPr>
        <p:spPr>
          <a:xfrm>
            <a:off x="266700" y="47195"/>
            <a:ext cx="645330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Intercept the drop packets if a packet’s IP address 136.160.215.194</a:t>
            </a:r>
          </a:p>
        </p:txBody>
      </p:sp>
    </p:spTree>
    <p:extLst>
      <p:ext uri="{BB962C8B-B14F-4D97-AF65-F5344CB8AC3E}">
        <p14:creationId xmlns:p14="http://schemas.microsoft.com/office/powerpoint/2010/main" val="1544700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D034FE-58AF-5393-0036-78C4D1CBA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13" y="808084"/>
            <a:ext cx="7483488" cy="41532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221487-F295-B870-1B4C-456F8D0ADC14}"/>
              </a:ext>
            </a:extLst>
          </p:cNvPr>
          <p:cNvSpPr txBox="1"/>
          <p:nvPr/>
        </p:nvSpPr>
        <p:spPr>
          <a:xfrm>
            <a:off x="8694949" y="701358"/>
            <a:ext cx="263466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3. observe that packets </a:t>
            </a:r>
            <a:r>
              <a:rPr lang="en-US"/>
              <a:t>are dropped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123467-F573-51D1-8C4B-7DB481490764}"/>
              </a:ext>
            </a:extLst>
          </p:cNvPr>
          <p:cNvCxnSpPr>
            <a:cxnSpLocks/>
          </p:cNvCxnSpPr>
          <p:nvPr/>
        </p:nvCxnSpPr>
        <p:spPr>
          <a:xfrm flipH="1">
            <a:off x="4956629" y="1669143"/>
            <a:ext cx="5088470" cy="1988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810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BFE67-EFF8-1026-FD6F-8827752B6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68" y="1817503"/>
            <a:ext cx="6241321" cy="219475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DF77F2E-620C-F5C5-B80C-3C756DAE7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468" y="4149508"/>
            <a:ext cx="8942071" cy="2277547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Söhne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packet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object in this program is an instance of 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netfilterqueue.Packet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class, which is provided by 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NetfilterQueue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library.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ea typeface="Söhne"/>
              </a:rPr>
              <a:t>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NetfilterQueue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library allows you to intercept and modify network packets using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userspace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application.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Söhne Mono"/>
              </a:rPr>
              <a:t>Packet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class represents a network packet that has been intercepted and passed to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userspace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application for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öhne Mono"/>
              </a:rPr>
              <a:t>packet.get_payload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öhne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method is being used to extract the payload data of the intercepted packet and pass it as an argument to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öhne Mono"/>
              </a:rPr>
              <a:t>IP()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constructor, which creates 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öhne Mono"/>
              </a:rPr>
              <a:t>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ea typeface="Söhne"/>
              </a:rPr>
              <a:t> object from the packet data.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ea typeface="Söhne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E3630-3D45-5764-18E2-7098AB8E7BFA}"/>
              </a:ext>
            </a:extLst>
          </p:cNvPr>
          <p:cNvSpPr txBox="1"/>
          <p:nvPr/>
        </p:nvSpPr>
        <p:spPr>
          <a:xfrm>
            <a:off x="7448547" y="1817503"/>
            <a:ext cx="3829053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Converting the packet from the </a:t>
            </a:r>
            <a:r>
              <a:rPr lang="en-GB" dirty="0" err="1">
                <a:latin typeface="OCRB" panose="020B0609020202020204" pitchFamily="49" charset="0"/>
              </a:rPr>
              <a:t>NetfilterQueue</a:t>
            </a:r>
            <a:r>
              <a:rPr lang="en-GB" dirty="0"/>
              <a:t> format to the </a:t>
            </a:r>
            <a:r>
              <a:rPr lang="en-GB" dirty="0" err="1">
                <a:latin typeface="OCRB" panose="020B0609020202020204" pitchFamily="49" charset="0"/>
              </a:rPr>
              <a:t>Scapy</a:t>
            </a:r>
            <a:r>
              <a:rPr lang="en-GB" dirty="0"/>
              <a:t> format, which allows us to use the </a:t>
            </a:r>
            <a:r>
              <a:rPr lang="en-GB" dirty="0" err="1">
                <a:latin typeface="OCRB" panose="020B0609020202020204" pitchFamily="49" charset="0"/>
              </a:rPr>
              <a:t>Scapy</a:t>
            </a:r>
            <a:r>
              <a:rPr lang="en-GB" dirty="0"/>
              <a:t> library's functionality to extract information from the </a:t>
            </a:r>
            <a:r>
              <a:rPr lang="en-GB" dirty="0">
                <a:latin typeface="OCRB" panose="020B0609020202020204" pitchFamily="49" charset="0"/>
              </a:rPr>
              <a:t>packet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E446F8-9774-BA5E-C4F5-F08F3E2EE2DE}"/>
              </a:ext>
            </a:extLst>
          </p:cNvPr>
          <p:cNvSpPr txBox="1"/>
          <p:nvPr/>
        </p:nvSpPr>
        <p:spPr>
          <a:xfrm>
            <a:off x="1093468" y="1455420"/>
            <a:ext cx="406752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Callback function when a rule is triggered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F04EBE-074F-0633-FD50-1F417D513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789" y="550778"/>
            <a:ext cx="3246401" cy="54868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DCDD26-26EA-37BB-F220-F97090BA6284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5160992" y="1099466"/>
            <a:ext cx="2542828" cy="540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9CE3662-680B-85A9-B3AB-F62C4F2973C4}"/>
              </a:ext>
            </a:extLst>
          </p:cNvPr>
          <p:cNvSpPr txBox="1"/>
          <p:nvPr/>
        </p:nvSpPr>
        <p:spPr>
          <a:xfrm>
            <a:off x="7334789" y="236220"/>
            <a:ext cx="386804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bind the rule with the callback function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1B64688-D1FF-4026-07A7-625B2EA89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73"/>
            <a:ext cx="6911939" cy="602032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FAF3DB-F7C6-EAD6-9515-B2D527EB0F71}"/>
              </a:ext>
            </a:extLst>
          </p:cNvPr>
          <p:cNvCxnSpPr/>
          <p:nvPr/>
        </p:nvCxnSpPr>
        <p:spPr>
          <a:xfrm>
            <a:off x="6713143" y="420886"/>
            <a:ext cx="2244846" cy="418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186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69436C-EF32-365C-6B48-804D78F37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6903"/>
            <a:ext cx="12192000" cy="2703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3B3FCC-C634-1BFE-730D-456B0CE4F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04126"/>
            <a:ext cx="10729890" cy="762066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2B404B1-8AB8-30DC-0410-2444F9D41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Debug: In case failed to bind filters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19427-A091-8EEF-7DA2-1C1B985F9F88}"/>
              </a:ext>
            </a:extLst>
          </p:cNvPr>
          <p:cNvSpPr txBox="1"/>
          <p:nvPr/>
        </p:nvSpPr>
        <p:spPr>
          <a:xfrm>
            <a:off x="0" y="4834794"/>
            <a:ext cx="250530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Kill old python processes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3AE53-2A08-06BA-A27B-647646D656A7}"/>
              </a:ext>
            </a:extLst>
          </p:cNvPr>
          <p:cNvSpPr txBox="1"/>
          <p:nvPr/>
        </p:nvSpPr>
        <p:spPr>
          <a:xfrm>
            <a:off x="0" y="1558072"/>
            <a:ext cx="265989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all python processes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B3B593-C1D9-6195-7A76-3CDD68B57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063" y="159701"/>
            <a:ext cx="4084674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59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DCB68E-2405-0925-6418-6CA3538A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a webpage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6CA80-23C2-B765-135B-4F4CCA364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95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C87DB3-37EB-A351-25A6-3CAB0C5DF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web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E96380-D651-E6B0-815F-D84B6D45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18117"/>
            <a:ext cx="7748542" cy="4073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FC494A-8A79-3259-B3EE-91A7179BBA27}"/>
              </a:ext>
            </a:extLst>
          </p:cNvPr>
          <p:cNvSpPr txBox="1"/>
          <p:nvPr/>
        </p:nvSpPr>
        <p:spPr>
          <a:xfrm>
            <a:off x="765630" y="5810258"/>
            <a:ext cx="10301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wget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https://raw.githubusercontent.com/frankwxu/digital-forensics-lab/main/Networking_Forensics/lab_files/firewall/hello.html</a:t>
            </a:r>
            <a:endParaRPr lang="en-US" sz="1400" dirty="0"/>
          </a:p>
          <a:p>
            <a:r>
              <a:rPr lang="en-US" sz="1400" dirty="0" err="1"/>
              <a:t>sudo</a:t>
            </a:r>
            <a:r>
              <a:rPr lang="en-US" sz="1400" dirty="0"/>
              <a:t> cp hello.html /var/www/html/.</a:t>
            </a:r>
          </a:p>
        </p:txBody>
      </p:sp>
    </p:spTree>
    <p:extLst>
      <p:ext uri="{BB962C8B-B14F-4D97-AF65-F5344CB8AC3E}">
        <p14:creationId xmlns:p14="http://schemas.microsoft.com/office/powerpoint/2010/main" val="3532801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54E4A5-E844-0EBB-00FC-40605DA9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2361"/>
            <a:ext cx="12192000" cy="26260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7D4C61-3240-E6AF-A900-60C898F8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243"/>
            <a:ext cx="12192000" cy="28387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8F092C-1025-8354-B27D-A6F0586BB2E5}"/>
              </a:ext>
            </a:extLst>
          </p:cNvPr>
          <p:cNvSpPr txBox="1"/>
          <p:nvPr/>
        </p:nvSpPr>
        <p:spPr>
          <a:xfrm>
            <a:off x="195944" y="544911"/>
            <a:ext cx="468621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enable a rule of firewall to drop package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549DC-4FC4-B65C-2F55-CACC8C128CFC}"/>
              </a:ext>
            </a:extLst>
          </p:cNvPr>
          <p:cNvSpPr txBox="1"/>
          <p:nvPr/>
        </p:nvSpPr>
        <p:spPr>
          <a:xfrm>
            <a:off x="9427030" y="174796"/>
            <a:ext cx="238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Make sure to use private windows to avoid caches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54D93F-C00F-E479-4847-968465262DF4}"/>
              </a:ext>
            </a:extLst>
          </p:cNvPr>
          <p:cNvCxnSpPr/>
          <p:nvPr/>
        </p:nvCxnSpPr>
        <p:spPr>
          <a:xfrm>
            <a:off x="10994571" y="914243"/>
            <a:ext cx="166915" cy="76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EDFF61-EC41-BAC3-D3A5-463006BB5C03}"/>
              </a:ext>
            </a:extLst>
          </p:cNvPr>
          <p:cNvCxnSpPr/>
          <p:nvPr/>
        </p:nvCxnSpPr>
        <p:spPr>
          <a:xfrm>
            <a:off x="10972800" y="914243"/>
            <a:ext cx="304800" cy="385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869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FF2AE-A133-BD9A-6B34-3A29A8803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31" y="0"/>
            <a:ext cx="6794187" cy="2889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264727-3CFB-07C2-9895-C1797EEC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308" y="2306539"/>
            <a:ext cx="8443692" cy="1935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D2BBAB-98F5-1C49-CD80-438BCFE13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969" y="4678491"/>
            <a:ext cx="7323455" cy="2179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7578C8-2AA1-24BB-B13A-4D8F1A1ACC9C}"/>
              </a:ext>
            </a:extLst>
          </p:cNvPr>
          <p:cNvSpPr txBox="1"/>
          <p:nvPr/>
        </p:nvSpPr>
        <p:spPr>
          <a:xfrm>
            <a:off x="699247" y="4572000"/>
            <a:ext cx="2928366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Open a new tab at each host.</a:t>
            </a:r>
          </a:p>
          <a:p>
            <a:r>
              <a:rPr lang="en-US" dirty="0"/>
              <a:t>.194 is blocked</a:t>
            </a:r>
          </a:p>
          <a:p>
            <a:r>
              <a:rPr lang="en-US" dirty="0"/>
              <a:t>.15 is allow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2037C-840D-069D-6D54-00F9B5387794}"/>
              </a:ext>
            </a:extLst>
          </p:cNvPr>
          <p:cNvSpPr txBox="1"/>
          <p:nvPr/>
        </p:nvSpPr>
        <p:spPr>
          <a:xfrm>
            <a:off x="7539318" y="1550894"/>
            <a:ext cx="369549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Start the firewall and trigger the rule!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1AEEF3-1D47-F3DA-AD27-F7550939C584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627613" y="3570514"/>
            <a:ext cx="2279701" cy="146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80A526-2F1D-8C06-5101-4884CF3EEB4C}"/>
              </a:ext>
            </a:extLst>
          </p:cNvPr>
          <p:cNvCxnSpPr>
            <a:stCxn id="8" idx="3"/>
          </p:cNvCxnSpPr>
          <p:nvPr/>
        </p:nvCxnSpPr>
        <p:spPr>
          <a:xfrm>
            <a:off x="3627613" y="5033665"/>
            <a:ext cx="2279701" cy="734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7FE93A-48C0-A235-25AA-1A6CDF65E197}"/>
              </a:ext>
            </a:extLst>
          </p:cNvPr>
          <p:cNvCxnSpPr>
            <a:stCxn id="9" idx="1"/>
          </p:cNvCxnSpPr>
          <p:nvPr/>
        </p:nvCxnSpPr>
        <p:spPr>
          <a:xfrm flipH="1">
            <a:off x="6792686" y="1735560"/>
            <a:ext cx="746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812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65A1-6A51-2D66-518C-D92CB8CD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393F5-244E-8B66-57E3-3B1588FE3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 traffic generated by </a:t>
            </a:r>
            <a:r>
              <a:rPr lang="en-US" dirty="0">
                <a:latin typeface="OCRB" panose="020B0609020202020204" pitchFamily="49" charset="0"/>
              </a:rPr>
              <a:t>curl</a:t>
            </a:r>
            <a:r>
              <a:rPr lang="en-US" dirty="0"/>
              <a:t> command</a:t>
            </a:r>
          </a:p>
          <a:p>
            <a:r>
              <a:rPr lang="en-US" dirty="0">
                <a:latin typeface="OCRB" panose="020B0609020202020204" pitchFamily="49" charset="0"/>
              </a:rPr>
              <a:t>curl</a:t>
            </a:r>
            <a:r>
              <a:rPr lang="en-US" dirty="0"/>
              <a:t> from a different machine and observe the results</a:t>
            </a:r>
          </a:p>
        </p:txBody>
      </p:sp>
    </p:spTree>
    <p:extLst>
      <p:ext uri="{BB962C8B-B14F-4D97-AF65-F5344CB8AC3E}">
        <p14:creationId xmlns:p14="http://schemas.microsoft.com/office/powerpoint/2010/main" val="3237386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36946</TotalTime>
  <Words>1566</Words>
  <Application>Microsoft Office PowerPoint</Application>
  <PresentationFormat>Widescreen</PresentationFormat>
  <Paragraphs>170</Paragraphs>
  <Slides>33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Arial Black</vt:lpstr>
      <vt:lpstr>Arial Unicode MS</vt:lpstr>
      <vt:lpstr>Calibri</vt:lpstr>
      <vt:lpstr>Calibri Light</vt:lpstr>
      <vt:lpstr>Helvetica Neue</vt:lpstr>
      <vt:lpstr>OCRB</vt:lpstr>
      <vt:lpstr>Segoe Print</vt:lpstr>
      <vt:lpstr>Söhne</vt:lpstr>
      <vt:lpstr>Office Theme</vt:lpstr>
      <vt:lpstr>Firewall</vt:lpstr>
      <vt:lpstr>What is Firewall</vt:lpstr>
      <vt:lpstr>The importance of a firewall </vt:lpstr>
      <vt:lpstr>Firewalls Deploying Methods</vt:lpstr>
      <vt:lpstr>PowerPoint Presentation</vt:lpstr>
      <vt:lpstr>Linux Firewall (iptables)</vt:lpstr>
      <vt:lpstr>Host-based Routing Process</vt:lpstr>
      <vt:lpstr>Host-based Firewall</vt:lpstr>
      <vt:lpstr>Linux Firewall and iptable</vt:lpstr>
      <vt:lpstr>iptables vs. ufw</vt:lpstr>
      <vt:lpstr>Chains in iptables</vt:lpstr>
      <vt:lpstr>Rules in iptables</vt:lpstr>
      <vt:lpstr>Host-Based Firewall running on 1.1.1.12</vt:lpstr>
      <vt:lpstr>Add rules to iptables</vt:lpstr>
      <vt:lpstr>Show current rules in iptables</vt:lpstr>
      <vt:lpstr>PowerPoint Presentation</vt:lpstr>
      <vt:lpstr>Add a firewall rule to Kali</vt:lpstr>
      <vt:lpstr>View the newly added firewall rule</vt:lpstr>
      <vt:lpstr>Delete the rule</vt:lpstr>
      <vt:lpstr>Block a HTTP request </vt:lpstr>
      <vt:lpstr>Intercept and manipulate network packets</vt:lpstr>
      <vt:lpstr>NetfilterQueue</vt:lpstr>
      <vt:lpstr>Install NetfilterQueue </vt:lpstr>
      <vt:lpstr>A simple traffic monitor that Uses NetfilterQueue</vt:lpstr>
      <vt:lpstr>PowerPoint Presentation</vt:lpstr>
      <vt:lpstr>PowerPoint Presentation</vt:lpstr>
      <vt:lpstr>PowerPoint Presentation</vt:lpstr>
      <vt:lpstr>Debug: In case failed to bind filters</vt:lpstr>
      <vt:lpstr>Block a webpage</vt:lpstr>
      <vt:lpstr>Create a web page</vt:lpstr>
      <vt:lpstr>PowerPoint Presentation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2416</cp:revision>
  <dcterms:created xsi:type="dcterms:W3CDTF">2020-09-14T14:43:27Z</dcterms:created>
  <dcterms:modified xsi:type="dcterms:W3CDTF">2026-07-22T05:01:24Z</dcterms:modified>
</cp:coreProperties>
</file>